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13d3d3f66741bd" /><Relationship Type="http://schemas.openxmlformats.org/officeDocument/2006/relationships/extended-properties" Target="/docProps/app.xml" Id="R6d97c8dd9b744ae6" /><Relationship Type="http://schemas.openxmlformats.org/officeDocument/2006/relationships/officeDocument" Target="/ppt/presentation.xml" Id="Re3e0ef38608c44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11eb3e983a4243"/>
  </p:sldMasterIdLst>
  <p:notesMasterIdLst>
    <p:notesMasterId xmlns:r="http://schemas.openxmlformats.org/officeDocument/2006/relationships" r:id="R8e6a00bc49724f3c"/>
  </p:notesMasterIdLst>
  <p:sldIdLst>
    <p:sldId xmlns:r="http://schemas.openxmlformats.org/officeDocument/2006/relationships" id="256" r:id="Rddafde9846594a6d"/>
    <p:sldId xmlns:r="http://schemas.openxmlformats.org/officeDocument/2006/relationships" id="257" r:id="R2761f118361e45a1"/>
    <p:sldId xmlns:r="http://schemas.openxmlformats.org/officeDocument/2006/relationships" id="258" r:id="Rd5993409b693432d"/>
    <p:sldId xmlns:r="http://schemas.openxmlformats.org/officeDocument/2006/relationships" id="259" r:id="R7624088ffe0e406c"/>
    <p:sldId xmlns:r="http://schemas.openxmlformats.org/officeDocument/2006/relationships" id="260" r:id="R5855c3f348514fcf"/>
    <p:sldId xmlns:r="http://schemas.openxmlformats.org/officeDocument/2006/relationships" id="261" r:id="R02aa734cea7e4363"/>
    <p:sldId xmlns:r="http://schemas.openxmlformats.org/officeDocument/2006/relationships" id="262" r:id="R51400b68a3e44ba4"/>
    <p:sldId xmlns:r="http://schemas.openxmlformats.org/officeDocument/2006/relationships" id="263" r:id="R026ef1dfd02643ab"/>
    <p:sldId xmlns:r="http://schemas.openxmlformats.org/officeDocument/2006/relationships" id="264" r:id="Ra5695873607745c5"/>
    <p:sldId xmlns:r="http://schemas.openxmlformats.org/officeDocument/2006/relationships" id="265" r:id="R01592c8b72264778"/>
    <p:sldId xmlns:r="http://schemas.openxmlformats.org/officeDocument/2006/relationships" id="266" r:id="R59416c4683dc4384"/>
    <p:sldId xmlns:r="http://schemas.openxmlformats.org/officeDocument/2006/relationships" id="267" r:id="R5428b06a5bcb485d"/>
    <p:sldId xmlns:r="http://schemas.openxmlformats.org/officeDocument/2006/relationships" id="268" r:id="Rae7a2f0a37dd4dfe"/>
    <p:sldId xmlns:r="http://schemas.openxmlformats.org/officeDocument/2006/relationships" id="269" r:id="R7cf2e504d790465d"/>
    <p:sldId xmlns:r="http://schemas.openxmlformats.org/officeDocument/2006/relationships" id="270" r:id="R9bba5f7f17094aaf"/>
    <p:sldId xmlns:r="http://schemas.openxmlformats.org/officeDocument/2006/relationships" id="271" r:id="R2a27a0c4ece043b4"/>
    <p:sldId xmlns:r="http://schemas.openxmlformats.org/officeDocument/2006/relationships" id="272" r:id="R75678d09d0624dc5"/>
    <p:sldId xmlns:r="http://schemas.openxmlformats.org/officeDocument/2006/relationships" id="273" r:id="Rdfd89bb136774576"/>
    <p:sldId xmlns:r="http://schemas.openxmlformats.org/officeDocument/2006/relationships" id="274" r:id="R601ff7122b004602"/>
    <p:sldId xmlns:r="http://schemas.openxmlformats.org/officeDocument/2006/relationships" id="275" r:id="Rf6c3347389e5490f"/>
    <p:sldId xmlns:r="http://schemas.openxmlformats.org/officeDocument/2006/relationships" id="276" r:id="R7ed5900a5c454bdc"/>
    <p:sldId xmlns:r="http://schemas.openxmlformats.org/officeDocument/2006/relationships" id="277" r:id="R1a4cb49cc2054a4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1eb3e983a4243" /><Relationship Type="http://schemas.openxmlformats.org/officeDocument/2006/relationships/theme" Target="/ppt/theme/theme1.xml" Id="R1e3a266f99c64318" /><Relationship Type="http://schemas.openxmlformats.org/officeDocument/2006/relationships/notesMaster" Target="/ppt/notesMasters/notesMaster1.xml" Id="R8e6a00bc49724f3c" /><Relationship Type="http://schemas.openxmlformats.org/officeDocument/2006/relationships/presProps" Target="/ppt/presProps.xml" Id="R58e8cca34b7748c0" /><Relationship Type="http://schemas.openxmlformats.org/officeDocument/2006/relationships/viewProps" Target="/ppt/viewProps.xml" Id="R7cc2c0bd31ec4fb5" /><Relationship Type="http://schemas.openxmlformats.org/officeDocument/2006/relationships/tableStyles" Target="/ppt/tableStyles.xml" Id="R3b1f3e1d3fca47e7" /><Relationship Type="http://schemas.openxmlformats.org/officeDocument/2006/relationships/slide" Target="/ppt/slides/slide1.xml" Id="Rddafde9846594a6d" /><Relationship Type="http://schemas.openxmlformats.org/officeDocument/2006/relationships/slide" Target="/ppt/slides/slide2.xml" Id="R2761f118361e45a1" /><Relationship Type="http://schemas.openxmlformats.org/officeDocument/2006/relationships/slide" Target="/ppt/slides/slide3.xml" Id="Rd5993409b693432d" /><Relationship Type="http://schemas.openxmlformats.org/officeDocument/2006/relationships/slide" Target="/ppt/slides/slide4.xml" Id="R7624088ffe0e406c" /><Relationship Type="http://schemas.openxmlformats.org/officeDocument/2006/relationships/slide" Target="/ppt/slides/slide5.xml" Id="R5855c3f348514fcf" /><Relationship Type="http://schemas.openxmlformats.org/officeDocument/2006/relationships/slide" Target="/ppt/slides/slide6.xml" Id="R02aa734cea7e4363" /><Relationship Type="http://schemas.openxmlformats.org/officeDocument/2006/relationships/slide" Target="/ppt/slides/slide7.xml" Id="R51400b68a3e44ba4" /><Relationship Type="http://schemas.openxmlformats.org/officeDocument/2006/relationships/slide" Target="/ppt/slides/slide8.xml" Id="R026ef1dfd02643ab" /><Relationship Type="http://schemas.openxmlformats.org/officeDocument/2006/relationships/slide" Target="/ppt/slides/slide9.xml" Id="Ra5695873607745c5" /><Relationship Type="http://schemas.openxmlformats.org/officeDocument/2006/relationships/slide" Target="/ppt/slides/slide10.xml" Id="R01592c8b72264778" /><Relationship Type="http://schemas.openxmlformats.org/officeDocument/2006/relationships/slide" Target="/ppt/slides/slide11.xml" Id="R59416c4683dc4384" /><Relationship Type="http://schemas.openxmlformats.org/officeDocument/2006/relationships/slide" Target="/ppt/slides/slide12.xml" Id="R5428b06a5bcb485d" /><Relationship Type="http://schemas.openxmlformats.org/officeDocument/2006/relationships/slide" Target="/ppt/slides/slide13.xml" Id="Rae7a2f0a37dd4dfe" /><Relationship Type="http://schemas.openxmlformats.org/officeDocument/2006/relationships/slide" Target="/ppt/slides/slide14.xml" Id="R7cf2e504d790465d" /><Relationship Type="http://schemas.openxmlformats.org/officeDocument/2006/relationships/slide" Target="/ppt/slides/slide15.xml" Id="R9bba5f7f17094aaf" /><Relationship Type="http://schemas.openxmlformats.org/officeDocument/2006/relationships/slide" Target="/ppt/slides/slide16.xml" Id="R2a27a0c4ece043b4" /><Relationship Type="http://schemas.openxmlformats.org/officeDocument/2006/relationships/slide" Target="/ppt/slides/slide17.xml" Id="R75678d09d0624dc5" /><Relationship Type="http://schemas.openxmlformats.org/officeDocument/2006/relationships/slide" Target="/ppt/slides/slide18.xml" Id="Rdfd89bb136774576" /><Relationship Type="http://schemas.openxmlformats.org/officeDocument/2006/relationships/slide" Target="/ppt/slides/slide19.xml" Id="R601ff7122b004602" /><Relationship Type="http://schemas.openxmlformats.org/officeDocument/2006/relationships/slide" Target="/ppt/slides/slide20.xml" Id="Rf6c3347389e5490f" /><Relationship Type="http://schemas.openxmlformats.org/officeDocument/2006/relationships/slide" Target="/ppt/slides/slide21.xml" Id="R7ed5900a5c454bdc" /><Relationship Type="http://schemas.openxmlformats.org/officeDocument/2006/relationships/slide" Target="/ppt/slides/slide22.xml" Id="R1a4cb49cc2054a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57f166098ef48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2b968831d847fc" /><Relationship Type="http://schemas.openxmlformats.org/officeDocument/2006/relationships/notesMaster" Target="/ppt/notesMasters/notesMaster1.xml" Id="R07a6ec8ab0e34e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9af7e7d5da4e9d" /><Relationship Type="http://schemas.openxmlformats.org/officeDocument/2006/relationships/notesMaster" Target="/ppt/notesMasters/notesMaster1.xml" Id="R16fe27ab57bc41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2f4268f807470d" /><Relationship Type="http://schemas.openxmlformats.org/officeDocument/2006/relationships/notesMaster" Target="/ppt/notesMasters/notesMaster1.xml" Id="R0800b4ca156e4e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6f0a96104d4e87" /><Relationship Type="http://schemas.openxmlformats.org/officeDocument/2006/relationships/notesMaster" Target="/ppt/notesMasters/notesMaster1.xml" Id="R316b411bcfc247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0b4d5b6ca246bc" /><Relationship Type="http://schemas.openxmlformats.org/officeDocument/2006/relationships/notesMaster" Target="/ppt/notesMasters/notesMaster1.xml" Id="Ra0e66e08d5c747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c2fb8c1c2e414d" /><Relationship Type="http://schemas.openxmlformats.org/officeDocument/2006/relationships/notesMaster" Target="/ppt/notesMasters/notesMaster1.xml" Id="R20ed8003b0704a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c5b0524836449e" /><Relationship Type="http://schemas.openxmlformats.org/officeDocument/2006/relationships/notesMaster" Target="/ppt/notesMasters/notesMaster1.xml" Id="R43624f6cbb5941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3c8030d4aa449d" /><Relationship Type="http://schemas.openxmlformats.org/officeDocument/2006/relationships/notesMaster" Target="/ppt/notesMasters/notesMaster1.xml" Id="Re5387f6dab2c49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215b66338f4286" /><Relationship Type="http://schemas.openxmlformats.org/officeDocument/2006/relationships/notesMaster" Target="/ppt/notesMasters/notesMaster1.xml" Id="R6247419231b34b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43e2e9577247fb" /><Relationship Type="http://schemas.openxmlformats.org/officeDocument/2006/relationships/notesMaster" Target="/ppt/notesMasters/notesMaster1.xml" Id="R47a45dac071946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0bde4113004742" /><Relationship Type="http://schemas.openxmlformats.org/officeDocument/2006/relationships/notesMaster" Target="/ppt/notesMasters/notesMaster1.xml" Id="R11086d07eef04b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aa1d35defa41aa" /><Relationship Type="http://schemas.openxmlformats.org/officeDocument/2006/relationships/notesMaster" Target="/ppt/notesMasters/notesMaster1.xml" Id="R531abb01ce8c48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7ec277058c43ae" /><Relationship Type="http://schemas.openxmlformats.org/officeDocument/2006/relationships/notesMaster" Target="/ppt/notesMasters/notesMaster1.xml" Id="R216e9837f03f44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4071cea0144b0a" /><Relationship Type="http://schemas.openxmlformats.org/officeDocument/2006/relationships/notesMaster" Target="/ppt/notesMasters/notesMaster1.xml" Id="R7605d50ef7744b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fb3a72ce5245f6" /><Relationship Type="http://schemas.openxmlformats.org/officeDocument/2006/relationships/notesMaster" Target="/ppt/notesMasters/notesMaster1.xml" Id="R8ff091c62abd4b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f67fd9fdca4316" /><Relationship Type="http://schemas.openxmlformats.org/officeDocument/2006/relationships/notesMaster" Target="/ppt/notesMasters/notesMaster1.xml" Id="R8eb929b1927d44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b7e739a83f4b7e" /><Relationship Type="http://schemas.openxmlformats.org/officeDocument/2006/relationships/notesMaster" Target="/ppt/notesMasters/notesMaster1.xml" Id="R5033823e14c34b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ebf3ed300847bd" /><Relationship Type="http://schemas.openxmlformats.org/officeDocument/2006/relationships/notesMaster" Target="/ppt/notesMasters/notesMaster1.xml" Id="Ra0ec71abbb454e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86ce016e6e4abb" /><Relationship Type="http://schemas.openxmlformats.org/officeDocument/2006/relationships/notesMaster" Target="/ppt/notesMasters/notesMaster1.xml" Id="R1832bb8383cf45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11c579b62c64642" /><Relationship Type="http://schemas.openxmlformats.org/officeDocument/2006/relationships/notesMaster" Target="/ppt/notesMasters/notesMaster1.xml" Id="R6c9c13ac2c1c406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65405e00c934b73" /><Relationship Type="http://schemas.openxmlformats.org/officeDocument/2006/relationships/notesMaster" Target="/ppt/notesMasters/notesMaster1.xml" Id="R6b7d4f13721d466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faab2e9c5dc4388" /><Relationship Type="http://schemas.openxmlformats.org/officeDocument/2006/relationships/notesMaster" Target="/ppt/notesMasters/notesMaster1.xml" Id="Rf648b8441b3c4e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 titre, l équipe et le contexte pédagogique. Insister sur le fait que la présentation porte autant sur la gestion du projet que sur la solution technique.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Introduire le projet en une minute : une application utile au laboratoire et une occasion d appliquer les méthodes de gestion de projets informatiques.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Montrer que le besoin ne vient pas d une absence de données, mais d une absence de centralisation et de méthode de suivi.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Lire la problématique, puis la traduire en problèmes concrets : visibilité, suivi, gestion des équipements, organisation des publications et collaboration.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la différence entre objectif général et objectifs spécifiques. Les objectifs spécifiques deviennent ensuite les modules du backlog.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Expliquer que la gestion de projet consiste aussi à dire ce qui ne sera pas fait. Le périmètre évite la dérive fonctionnelle.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Faire le lien avec le cours : si nous ajoutons trop de fonctions, le délai augmente ou la qualité baisse. Le MVP est donc un choix de gestion QCD.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les rôles selon le vocabulaire du cours : MOA, MOE, chef de projet, utilisateurs. Puis montrer leur traduction dans l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Cette slide sert de carte fonctionnelle avant de passer à l architecture technique.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Expliquer que l architecture sépare l interface, la logique métier, la base de données, l IA et le versioning. C est une application concrète de la conception.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Mettre en avant les relations principales plutôt que les colonnes. Le modèle de données matérialise le périmètre fonctionnel.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 est une slide centrale. Pour chaque méthode vue en cours, donner l exemple concret produit dans le projet.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Expliquer que l approche hybride convient car les besoins principaux sont stables, mais certaines parties évoluent en réalisation.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la roadmap comme un outil de suivi du délai. Chaque sprint correspond à un résultat vérifiable.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Relier le Kanban à la maîtrise de l avancement. Il évite les tâches invisibles et aide à prioriser.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planning montre la séquence logique : cadrage, conception, réalisation, IA, tests et livraison.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les risques non pas comme une liste théorique, mais comme des décisions concrètes : priorisation, tests, migrations, fallback 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les tests comme étape de validation projet. Le code n est livré qu après vérification des scénarios critiques.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Montrer que chaque phase a un livrable associé : c est une preuve de méthode et de traçabilité.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Utiliser cette slide comme guide lors de la démonstration finale. Elle structure le parcours devant le professeur.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Mettre en avant les résultats concrets : application, dashboard, IA, rôles, documentation et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Conclure fortement : le projet montre la capacité à transformer un besoin en solution grâce à une démarche de gestion de projet.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433b3f0ac481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c7e36ec50fe4830" /><Relationship Type="http://schemas.openxmlformats.org/officeDocument/2006/relationships/slideLayout" Target="/ppt/slideLayouts/slideLayout2.xml" Id="Rc7a7bb2fdf0d45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a7bb2fdf0d45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2c22e6f05d48c4" /><Relationship Type="http://schemas.openxmlformats.org/officeDocument/2006/relationships/notesSlide" Target="/ppt/notesSlides/notesSlide1.xml" Id="Rbd4eafe83a424e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ce9d23303c4ae2" /><Relationship Type="http://schemas.openxmlformats.org/officeDocument/2006/relationships/notesSlide" Target="/ppt/notesSlides/notesSlide2.xml" Id="R1a7cc13653aa4f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1e69edfc0c4d99" /><Relationship Type="http://schemas.openxmlformats.org/officeDocument/2006/relationships/notesSlide" Target="/ppt/notesSlides/notesSlide3.xml" Id="R8c66a33c105145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24319242e54d0b" /><Relationship Type="http://schemas.openxmlformats.org/officeDocument/2006/relationships/notesSlide" Target="/ppt/notesSlides/notesSlide4.xml" Id="R9fd7a019a26141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1bd168ae624edc" /><Relationship Type="http://schemas.openxmlformats.org/officeDocument/2006/relationships/notesSlide" Target="/ppt/notesSlides/notesSlide5.xml" Id="R2b869a5333e045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ae7b939d914b5a" /><Relationship Type="http://schemas.openxmlformats.org/officeDocument/2006/relationships/notesSlide" Target="/ppt/notesSlides/notesSlide6.xml" Id="Raa6b36cc18fe4e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4856f74e1a4500" /><Relationship Type="http://schemas.openxmlformats.org/officeDocument/2006/relationships/notesSlide" Target="/ppt/notesSlides/notesSlide7.xml" Id="R6f729ce9b9b642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d052941d24583" /><Relationship Type="http://schemas.openxmlformats.org/officeDocument/2006/relationships/notesSlide" Target="/ppt/notesSlides/notesSlide8.xml" Id="Rc06069d6524b4c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1bf5ca30f5486c" /><Relationship Type="http://schemas.openxmlformats.org/officeDocument/2006/relationships/notesSlide" Target="/ppt/notesSlides/notesSlide9.xml" Id="Re070001d1ffb43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e3be8208604675" /><Relationship Type="http://schemas.openxmlformats.org/officeDocument/2006/relationships/notesSlide" Target="/ppt/notesSlides/notesSlide10.xml" Id="R51123e15f82845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39449a514a46c8" /><Relationship Type="http://schemas.openxmlformats.org/officeDocument/2006/relationships/notesSlide" Target="/ppt/notesSlides/notesSlide11.xml" Id="R2c6cbc6b9e5b4e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6212291b664f5d" /><Relationship Type="http://schemas.openxmlformats.org/officeDocument/2006/relationships/notesSlide" Target="/ppt/notesSlides/notesSlide12.xml" Id="Ra40c93df4f514b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14dfb169e243ea" /><Relationship Type="http://schemas.openxmlformats.org/officeDocument/2006/relationships/notesSlide" Target="/ppt/notesSlides/notesSlide13.xml" Id="Re384b993a25b44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82f9c5a8f5496b" /><Relationship Type="http://schemas.openxmlformats.org/officeDocument/2006/relationships/notesSlide" Target="/ppt/notesSlides/notesSlide14.xml" Id="R4af831bf3ddd49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92348920e84d33" /><Relationship Type="http://schemas.openxmlformats.org/officeDocument/2006/relationships/notesSlide" Target="/ppt/notesSlides/notesSlide15.xml" Id="Rb81093c75f0047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a879d418bc469c" /><Relationship Type="http://schemas.openxmlformats.org/officeDocument/2006/relationships/notesSlide" Target="/ppt/notesSlides/notesSlide16.xml" Id="R92243a128fde46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54a115722a40c7" /><Relationship Type="http://schemas.openxmlformats.org/officeDocument/2006/relationships/notesSlide" Target="/ppt/notesSlides/notesSlide17.xml" Id="Rc32ef2c97cd647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382bf4ae774f12" /><Relationship Type="http://schemas.openxmlformats.org/officeDocument/2006/relationships/notesSlide" Target="/ppt/notesSlides/notesSlide18.xml" Id="Re94142cfebd343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55cedcd94e4ac6" /><Relationship Type="http://schemas.openxmlformats.org/officeDocument/2006/relationships/notesSlide" Target="/ppt/notesSlides/notesSlide19.xml" Id="R080e671e14db4e3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8fa5a3aba34afc" /><Relationship Type="http://schemas.openxmlformats.org/officeDocument/2006/relationships/notesSlide" Target="/ppt/notesSlides/notesSlide20.xml" Id="Rfbb7706bbf3d451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50d4dca6724274" /><Relationship Type="http://schemas.openxmlformats.org/officeDocument/2006/relationships/notesSlide" Target="/ppt/notesSlides/notesSlide21.xml" Id="Rcd20cfa6482845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8697cf98074615" /><Relationship Type="http://schemas.openxmlformats.org/officeDocument/2006/relationships/notesSlide" Target="/ppt/notesSlides/notesSlide22.xml" Id="R982a8c10e63a47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648A889-C122-4F47-B70B-A22296DF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D52A8-2A2F-47B2-B370-850213E8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188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93C5FD"/>
                </a:solidFill>
              </a:defRPr>
            </a:pPr>
            <a:r>
              <a:rPr sz="1800" b="1" i="0">
                <a:solidFill>
                  <a:srgbClr val="93C5FD"/>
                </a:solidFill>
              </a:rPr>
              <a:t>Gestion de projets informatiques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E3652E5-9D07-4185-81FC-4FB9C189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0"/>
            <a:ext cx="118872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 i="0">
                <a:solidFill>
                  <a:srgbClr val="FFFFFF"/>
                </a:solidFill>
              </a:defRPr>
            </a:pPr>
            <a:r>
              <a:rPr sz="5100" b="1" i="0">
                <a:solidFill>
                  <a:srgbClr val="FFFFFF"/>
                </a:solidFill>
              </a:rPr>
              <a:t>Plateforme intelligente de digitalisation des laboratoires de recherche universitaires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07AA8-7575-445A-BF9C-9308EDDF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9944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CBD5E1"/>
                </a:solidFill>
              </a:defRPr>
            </a:pPr>
            <a:r>
              <a:rPr sz="2175" b="0" i="0">
                <a:solidFill>
                  <a:srgbClr val="CBD5E1"/>
                </a:solidFill>
              </a:rPr>
              <a:t>Gestion des activités de recherche, publications, équipements et valorisation scientifique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15F62-A6B0-4797-BF20-5FCDA690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29700"/>
            <a:ext cx="1188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Réalisé par : Ayoub El Youbi Ben Ameur • Akkouh Iliass • El Gourari Nassim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984AD-BA9A-433D-9BDB-61C019FE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72600"/>
            <a:ext cx="1188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CBD5E1"/>
                </a:solidFill>
              </a:defRPr>
            </a:pPr>
            <a:r>
              <a:rPr sz="1575" b="0" i="0">
                <a:solidFill>
                  <a:srgbClr val="CBD5E1"/>
                </a:solidFill>
              </a:rPr>
              <a:t>Encadré par : Pr. R. Abakouy • Année universitaire : 2025-2026 • Module : Gestion de projets informatiques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64B72-2F41-4CB7-916D-FF9FE1A0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619500"/>
            <a:ext cx="40005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600" b="1" i="0">
                <a:solidFill>
                  <a:srgbClr val="93C5FD"/>
                </a:solidFill>
              </a:defRPr>
            </a:pPr>
            <a:r>
              <a:rPr sz="6600" b="1" i="0">
                <a:solidFill>
                  <a:srgbClr val="93C5FD"/>
                </a:solidFill>
              </a:rPr>
              <a:t>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AF3D0-9A27-411C-9243-10ADE37F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8006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5879D-17BB-4FCB-ADEF-B1CE9CC9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048250"/>
            <a:ext cx="4000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FFFFFF"/>
                </a:solidFill>
              </a:defRPr>
            </a:pPr>
            <a:r>
              <a:rPr sz="5550" b="1" i="0">
                <a:solidFill>
                  <a:srgbClr val="FFFFFF"/>
                </a:solidFill>
              </a:rPr>
              <a:t>QCD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47104-91F8-4B4F-AD07-8DAA47AC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6057900"/>
            <a:ext cx="4000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BD5E1"/>
                </a:solidFill>
              </a:defRPr>
            </a:pPr>
            <a:r>
              <a:rPr sz="2025" b="0" i="0">
                <a:solidFill>
                  <a:srgbClr val="CBD5E1"/>
                </a:solidFill>
              </a:rPr>
              <a:t>Cadrage • Roadmap • Backlog • Risques • Tests • Livrables</a:t>
            </a:r>
          </a:p>
        </p:txBody>
      </p:sp>
    </p:spTree>
    <p:extLst>
      <p:ext uri="{BB962C8B-B14F-4D97-AF65-F5344CB8AC3E}">
        <p14:creationId xmlns:p14="http://schemas.microsoft.com/office/powerpoint/2010/main" val="15866026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09D98A23-E807-4A52-AD9D-97B8C3E9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26A93DC2-1B2B-48BE-8793-D8070BA3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Introduction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ED37CB-60EC-479F-8EF5-FDE8B37B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Un projet web académique, géré comme un vrai projet informatique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6933037-2292-44BC-AE92-A66EA710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1217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La plateforme centralise les activités du laboratoire et ajoute une couche IA simple pour améliorer l organisation et la collaboration.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F401BC0E-48DF-4184-87C1-566F679A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1230"/>
            <a:ext cx="8181975" cy="3388995"/>
          </a:xfrm>
          <a:prstGeom xmlns:a="http://schemas.openxmlformats.org/drawingml/2006/main" prst="roundRect">
            <a:avLst>
              <a:gd name="adj" fmla="val 6745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6" name="card-dot">
            <a:extLst xmlns:a="http://schemas.openxmlformats.org/drawingml/2006/main">
              <a:ext uri="{FF2B5EF4-FFF2-40B4-BE49-F238E27FC236}">
                <a16:creationId xmlns:a16="http://schemas.microsoft.com/office/drawing/2014/main" id="{21EDB650-6ACB-4500-B584-9F729744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908D6493-846E-417A-96D2-14EEB974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7315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Digitaliser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A7A816B3-785C-4ED7-9626-EAB91F23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762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34155"/>
                </a:solidFill>
              </a:defRPr>
            </a:pPr>
            <a:r>
              <a:rPr sz="1800" b="0" i="0">
                <a:solidFill>
                  <a:srgbClr val="334155"/>
                </a:solidFill>
              </a:rPr>
              <a:t>Remplacer les suivis dispersés par un espace web unique.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F2D8BDD8-F216-4944-A8A0-DA512074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221230"/>
            <a:ext cx="8181975" cy="3388995"/>
          </a:xfrm>
          <a:prstGeom xmlns:a="http://schemas.openxmlformats.org/drawingml/2006/main" prst="roundRect">
            <a:avLst>
              <a:gd name="adj" fmla="val 6745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10" name="card-dot">
            <a:extLst xmlns:a="http://schemas.openxmlformats.org/drawingml/2006/main">
              <a:ext uri="{FF2B5EF4-FFF2-40B4-BE49-F238E27FC236}">
                <a16:creationId xmlns:a16="http://schemas.microsoft.com/office/drawing/2014/main" id="{7C2951F7-72F6-4412-87B9-BA3E9BE3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1F093BCC-17D8-455C-AFB6-6ECF0D04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57450"/>
            <a:ext cx="7315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Centraliser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B54E0679-7925-4808-9AA1-BE41864E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52750"/>
            <a:ext cx="762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34155"/>
                </a:solidFill>
              </a:defRPr>
            </a:pPr>
            <a:r>
              <a:rPr sz="1800" b="0" i="0">
                <a:solidFill>
                  <a:srgbClr val="334155"/>
                </a:solidFill>
              </a:rPr>
              <a:t>Regrouper membres, projets, équipements, publications et valorisation.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0B6EF584-B191-4574-B269-D8086824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8181975" cy="3388995"/>
          </a:xfrm>
          <a:prstGeom xmlns:a="http://schemas.openxmlformats.org/drawingml/2006/main" prst="roundRect">
            <a:avLst>
              <a:gd name="adj" fmla="val 6745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14" name="card-dot">
            <a:extLst xmlns:a="http://schemas.openxmlformats.org/drawingml/2006/main">
              <a:ext uri="{FF2B5EF4-FFF2-40B4-BE49-F238E27FC236}">
                <a16:creationId xmlns:a16="http://schemas.microsoft.com/office/drawing/2014/main" id="{90EA8A14-E5FA-4A7E-9CC9-65E7B4A9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10638A39-1C5A-4A79-9A04-E0CD3A36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96000"/>
            <a:ext cx="7315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Piloter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7FA72EC0-D395-48BD-AC8A-73972F94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591300"/>
            <a:ext cx="762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34155"/>
                </a:solidFill>
              </a:defRPr>
            </a:pPr>
            <a:r>
              <a:rPr sz="1800" b="0" i="0">
                <a:solidFill>
                  <a:srgbClr val="334155"/>
                </a:solidFill>
              </a:rPr>
              <a:t>Mettre à disposition un dashboard pour les responsables du laboratoire.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FF8C63FF-6E39-4F70-8424-29266B32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857875"/>
            <a:ext cx="8181975" cy="3388995"/>
          </a:xfrm>
          <a:prstGeom xmlns:a="http://schemas.openxmlformats.org/drawingml/2006/main" prst="roundRect">
            <a:avLst>
              <a:gd name="adj" fmla="val 6745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18" name="card-dot">
            <a:extLst xmlns:a="http://schemas.openxmlformats.org/drawingml/2006/main">
              <a:ext uri="{FF2B5EF4-FFF2-40B4-BE49-F238E27FC236}">
                <a16:creationId xmlns:a16="http://schemas.microsoft.com/office/drawing/2014/main" id="{53A7BFD8-5CCD-4C8E-9661-9650D980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210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19" name="card-title">
            <a:extLst xmlns:a="http://schemas.openxmlformats.org/drawingml/2006/main">
              <a:ext uri="{FF2B5EF4-FFF2-40B4-BE49-F238E27FC236}">
                <a16:creationId xmlns:a16="http://schemas.microsoft.com/office/drawing/2014/main" id="{030E01F1-C045-4FF0-B497-0E506115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96000"/>
            <a:ext cx="7315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Assister par IA</a:t>
            </a:r>
          </a:p>
        </p:txBody>
      </p:sp>
      <p:sp>
        <p:nvSpPr>
          <p:cNvPr id="20" name="card-body">
            <a:extLst xmlns:a="http://schemas.openxmlformats.org/drawingml/2006/main">
              <a:ext uri="{FF2B5EF4-FFF2-40B4-BE49-F238E27FC236}">
                <a16:creationId xmlns:a16="http://schemas.microsoft.com/office/drawing/2014/main" id="{956BD3AE-A66C-4FC2-974F-669A8976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91300"/>
            <a:ext cx="762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34155"/>
                </a:solidFill>
              </a:defRPr>
            </a:pPr>
            <a:r>
              <a:rPr sz="1800" b="0" i="0">
                <a:solidFill>
                  <a:srgbClr val="334155"/>
                </a:solidFill>
              </a:rPr>
              <a:t>Extraire des mots-clés et recommander des collaborations scientifiques.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D35D6A2-B966-4CC9-A5C7-A4E24E58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2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ED69B73-5DF5-4557-BB27-BC77CC55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02 / 22</a:t>
            </a:r>
          </a:p>
        </p:txBody>
      </p:sp>
    </p:spTree>
    <p:extLst>
      <p:ext uri="{BB962C8B-B14F-4D97-AF65-F5344CB8AC3E}">
        <p14:creationId xmlns:p14="http://schemas.microsoft.com/office/powerpoint/2010/main" val="10759545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DE45C01-4DB2-47AE-893A-6718D817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754BCBF5-E282-41C7-A84D-E06DEE25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Contexte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BC6990-8960-4F12-A8F1-ACEB3A70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Des informations scientifiques dispersées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E0D3825-3566-4CE1-BD8D-4A35B7F3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10191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Dans beaucoup de laboratoires, les données existent déjà, mais elles sont stockées dans des supports séparés.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A8309-ED25-4F58-8614-A1555F56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F23DC-0910-43A2-B312-60117C9E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1082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Fichiers Excel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4717A-CD7D-4A42-956C-CCC085B6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1082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Listes de membres, projets et équipements maintenues manuellement.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77551-9930-423D-9FF6-22814129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088FA-3F5A-4A04-BD96-4492EDD5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1082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Documents Word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ED715-BD24-4379-927E-ECA9A016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24500"/>
            <a:ext cx="1082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Rapports, conventions et bilans scientifiques difficiles à consolider.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CD8F6-52A3-4B1D-88C5-F7B92E2D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0C879-39C5-446C-868C-C7F7884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62650"/>
            <a:ext cx="1082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Emails et échanges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A5F65-D0CA-46E0-AFD3-E7466EE5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86500"/>
            <a:ext cx="1082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Décisions, validations et informations dispersées entre acteurs.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4FF7B-B991-46C8-B06C-D39D72DA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24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D1443-6282-47E5-BC4F-90BF6380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724650"/>
            <a:ext cx="1082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Absence de système unique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91A42-0115-4688-B8D2-641A0CF5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048500"/>
            <a:ext cx="1082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Le suivi devient lent, incomplet et peu visible.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57F91-3CEC-42B6-ACA2-25428204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495550"/>
            <a:ext cx="5143500" cy="674370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0F172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D9E76-379B-4951-8711-F3061E50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438650"/>
            <a:ext cx="4419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93C5FD"/>
                </a:solidFill>
              </a:defRPr>
            </a:pPr>
            <a:r>
              <a:rPr sz="1950" b="1" i="0">
                <a:solidFill>
                  <a:srgbClr val="93C5FD"/>
                </a:solidFill>
              </a:rPr>
              <a:t>Conséquence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9B3B7-B3C8-4D8D-BE97-86A8F1E7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5010150"/>
            <a:ext cx="44196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Le laboratoire possède beaucoup d informations, mais manque d une vision consolidée pour les exploiter efficacement.</a:t>
            </a:r>
          </a:p>
        </p:txBody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3254889-F5CC-4EA5-A94B-F61EF02B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2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FF2D8B6-80E1-4662-89AC-8F8F5E4C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03 / 22</a:t>
            </a:r>
          </a:p>
        </p:txBody>
      </p:sp>
    </p:spTree>
    <p:extLst>
      <p:ext uri="{BB962C8B-B14F-4D97-AF65-F5344CB8AC3E}">
        <p14:creationId xmlns:p14="http://schemas.microsoft.com/office/powerpoint/2010/main" val="6811213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0CB7031F-9228-4E37-89A0-17C91E08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05D08C18-03EC-40A4-A23F-4556F9DD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Problématique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255256-447B-4D5D-A128-BD3EC739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Comment centraliser, suivre et valoriser les activités du laboratoire ?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46267D0-B811-4F80-90CB-94FC27E0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9848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La problématique relie la digitalisation, le suivi opérationnel, la collaboration et la valorisation scientifique.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A4431-95AC-4021-B9C4-F5113CC5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66878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0F172A"/>
                </a:solidFill>
              </a:defRPr>
            </a:pPr>
            <a:r>
              <a:rPr sz="3225" b="1" i="0">
                <a:solidFill>
                  <a:srgbClr val="0F172A"/>
                </a:solidFill>
              </a:rPr>
              <a:t>« Comment digitaliser et centraliser la gestion des activités d’un laboratoire de recherche universitaire tout en améliorant le suivi, la collaboration et la valorisation scientifique ? »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475A6AB-D5A6-4BF1-AFCF-3597655F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D2E260D-2617-472F-8D25-26ACFD2C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04 / 22</a:t>
            </a:r>
          </a:p>
        </p:txBody>
      </p:sp>
    </p:spTree>
    <p:extLst>
      <p:ext uri="{BB962C8B-B14F-4D97-AF65-F5344CB8AC3E}">
        <p14:creationId xmlns:p14="http://schemas.microsoft.com/office/powerpoint/2010/main" val="1546533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29E7792-7317-4EBD-A1E4-D650C00F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FA745EC5-EC8B-484B-9E91-4DC973FD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Objectifs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5FFC6E-9F03-4070-8645-5F7A6963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Un objectif général, plusieurs objectifs opérationnels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C27A273-F449-4B99-98E7-0EAA2A2B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7943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Le périmètre fonctionnel a été construit pour aboutir à un MVP complet mais réaliste.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DDF46-29FC-47BD-AD44-219A3F34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7363778" cy="6751320"/>
          </a:xfrm>
          <a:prstGeom xmlns:a="http://schemas.openxmlformats.org/drawingml/2006/main" prst="roundRect">
            <a:avLst>
              <a:gd name="adj" fmla="val 3950"/>
            </a:avLst>
          </a:prstGeom>
          <a:solidFill xmlns:a="http://schemas.openxmlformats.org/drawingml/2006/main">
            <a:srgbClr val="0F172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8FDCB-2DA0-40B6-8568-3753065D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6648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93C5FD"/>
                </a:solidFill>
              </a:defRPr>
            </a:pPr>
            <a:r>
              <a:rPr sz="2025" b="1" i="0">
                <a:solidFill>
                  <a:srgbClr val="93C5FD"/>
                </a:solidFill>
              </a:rPr>
              <a:t>Objectif général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BA5ED-E7B4-4D27-85C5-FB732029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29250"/>
            <a:ext cx="664845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FFFFFF"/>
                </a:solidFill>
              </a:defRPr>
            </a:pPr>
            <a:r>
              <a:rPr sz="3075" b="1" i="0">
                <a:solidFill>
                  <a:srgbClr val="FFFFFF"/>
                </a:solidFill>
              </a:rPr>
              <a:t>Développer une plateforme web intelligente pour gérer les activités d’un laboratoire de recherche.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90939-C0F7-434D-8129-250B44AC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728" y="2495550"/>
            <a:ext cx="9000173" cy="6751320"/>
          </a:xfrm>
          <a:prstGeom xmlns:a="http://schemas.openxmlformats.org/drawingml/2006/main" prst="roundRect">
            <a:avLst>
              <a:gd name="adj" fmla="val 39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CFE35-CA20-4764-989B-D799058D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B26CD-70E6-49E1-BCF2-748DCF0F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334155"/>
                </a:solidFill>
              </a:defRPr>
            </a:pPr>
            <a:r>
              <a:rPr sz="1875" b="0" i="0">
                <a:solidFill>
                  <a:srgbClr val="334155"/>
                </a:solidFill>
              </a:rPr>
              <a:t>Gérer les membres et leurs domaines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2EB7A-B4EB-43BD-BCA8-3F347B06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717E8-3365-4143-BE6E-241D3448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7660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334155"/>
                </a:solidFill>
              </a:defRPr>
            </a:pPr>
            <a:r>
              <a:rPr sz="1875" b="0" i="0">
                <a:solidFill>
                  <a:srgbClr val="334155"/>
                </a:solidFill>
              </a:rPr>
              <a:t>Suivre les projets et leurs équipes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4A8E7-CCE1-4893-8602-84730492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F40E7-BC5D-4898-9A02-6B749168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9570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334155"/>
                </a:solidFill>
              </a:defRPr>
            </a:pPr>
            <a:r>
              <a:rPr sz="1875" b="0" i="0">
                <a:solidFill>
                  <a:srgbClr val="334155"/>
                </a:solidFill>
              </a:rPr>
              <a:t>Inventorier les équipements scientifiques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B267F-351D-4225-B77C-A8D4B65F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D82B6-8317-4BC6-8747-50711395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1480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334155"/>
                </a:solidFill>
              </a:defRPr>
            </a:pPr>
            <a:r>
              <a:rPr sz="1875" b="0" i="0">
                <a:solidFill>
                  <a:srgbClr val="334155"/>
                </a:solidFill>
              </a:rPr>
              <a:t>Structurer les publications et auteurs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B6265-1268-4EFE-A83E-A1356B02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BBACA-434B-4DD0-97B8-14665810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3390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334155"/>
                </a:solidFill>
              </a:defRPr>
            </a:pPr>
            <a:r>
              <a:rPr sz="1875" b="0" i="0">
                <a:solidFill>
                  <a:srgbClr val="334155"/>
                </a:solidFill>
              </a:rPr>
              <a:t>Valoriser partenariats, prix et événements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6250E-8F8C-4E35-BC51-88AC2F2B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FC86E-A59E-454D-9EB2-36E5A3B4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5300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334155"/>
                </a:solidFill>
              </a:defRPr>
            </a:pPr>
            <a:r>
              <a:rPr sz="1875" b="0" i="0">
                <a:solidFill>
                  <a:srgbClr val="334155"/>
                </a:solidFill>
              </a:rPr>
              <a:t>Afficher un dashboard statistique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5EA06-5A6C-4FFF-8B6C-27F79857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72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7EF3B-CDD0-4916-95A1-8FD02F21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7210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334155"/>
                </a:solidFill>
              </a:defRPr>
            </a:pPr>
            <a:r>
              <a:rPr sz="1875" b="0" i="0">
                <a:solidFill>
                  <a:srgbClr val="334155"/>
                </a:solidFill>
              </a:rPr>
              <a:t>Intégrer IA/NLP pour mots-clés et recommandations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990B97F-F590-404C-BC16-347550C0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F70FBA0-5E75-451E-ACD2-9B4D6229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05 / 22</a:t>
            </a:r>
          </a:p>
        </p:txBody>
      </p:sp>
    </p:spTree>
    <p:extLst>
      <p:ext uri="{BB962C8B-B14F-4D97-AF65-F5344CB8AC3E}">
        <p14:creationId xmlns:p14="http://schemas.microsoft.com/office/powerpoint/2010/main" val="11657696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C9DCCDF9-4F76-4EBB-816F-A37A16B1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AB6C64E5-E0FD-4E14-B8F8-F0B66155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Périmètre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16FEC7-47D3-4AAF-9AF7-BF0F7B95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Un MVP volontairement maîtrisé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5C68AE1-758A-4B8B-B528-BD744A30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9448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Le périmètre a permis de protéger la qualité et le délai en limitant les fonctionnalités non essentielles.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A73C2F5C-EB03-42E9-89A7-E3457F3C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8172450" cy="6751320"/>
          </a:xfrm>
          <a:prstGeom xmlns:a="http://schemas.openxmlformats.org/drawingml/2006/main" prst="roundRect">
            <a:avLst>
              <a:gd name="adj" fmla="val 3386"/>
            </a:avLst>
          </a:prstGeom>
          <a:solidFill xmlns:a="http://schemas.openxmlformats.org/drawingml/2006/main">
            <a:srgbClr val="D1FAE5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6" name="card-dot">
            <a:extLst xmlns:a="http://schemas.openxmlformats.org/drawingml/2006/main">
              <a:ext uri="{FF2B5EF4-FFF2-40B4-BE49-F238E27FC236}">
                <a16:creationId xmlns:a16="http://schemas.microsoft.com/office/drawing/2014/main" id="{1B572780-EF58-4CE8-A89A-CC0C0F98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2D8EF838-C5DC-4BD6-ADD4-3CEE33AF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729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Inclus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B27F7-3F2B-4DD7-8CDA-89ED4B7E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7E110-161C-4C83-BE84-590CA9FA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194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Authentification et rôles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C35A4-ED24-4F1D-80E1-403D8528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47064-81A0-474E-98C4-21724790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CRUD membres, projets, équipements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44C88-A3E9-49B2-B9B1-227381AA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24350-44EA-4944-9BE8-778B6F1C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CRUD publications et valorisation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FD679-B3C9-437F-ADD9-5A3041E8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8386A-C83B-4D28-84CA-160C29EC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Dashboard statistique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38732-05B2-47FB-B9C5-732A6020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C8DB8-9759-4620-9A3C-A27C5367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434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IA/NLP simple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E62D6-6255-425E-B9A5-18C1059E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8F93B7-0E11-46A8-A56E-CBE2D3B7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540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Documentation et tests principaux</a:t>
            </a:r>
          </a:p>
        </p:txBody>
      </p:sp>
      <p:sp>
        <p:nvSpPr>
          <p:cNvPr id="20" name="card">
            <a:extLst xmlns:a="http://schemas.openxmlformats.org/drawingml/2006/main">
              <a:ext uri="{FF2B5EF4-FFF2-40B4-BE49-F238E27FC236}">
                <a16:creationId xmlns:a16="http://schemas.microsoft.com/office/drawing/2014/main" id="{1CAD0E70-5A71-4D3D-9078-8855A2E4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95550"/>
            <a:ext cx="8172450" cy="6751320"/>
          </a:xfrm>
          <a:prstGeom xmlns:a="http://schemas.openxmlformats.org/drawingml/2006/main" prst="roundRect">
            <a:avLst>
              <a:gd name="adj" fmla="val 3386"/>
            </a:avLst>
          </a:prstGeom>
          <a:solidFill xmlns:a="http://schemas.openxmlformats.org/drawingml/2006/main">
            <a:srgbClr val="FEE2E2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21" name="card-dot">
            <a:extLst xmlns:a="http://schemas.openxmlformats.org/drawingml/2006/main">
              <a:ext uri="{FF2B5EF4-FFF2-40B4-BE49-F238E27FC236}">
                <a16:creationId xmlns:a16="http://schemas.microsoft.com/office/drawing/2014/main" id="{804C78A3-1C81-4B9A-818B-61488445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</p:spPr>
      </p:sp>
      <p:sp>
        <p:nvSpPr>
          <p:cNvPr id="22" name="card-title">
            <a:extLst xmlns:a="http://schemas.openxmlformats.org/drawingml/2006/main">
              <a:ext uri="{FF2B5EF4-FFF2-40B4-BE49-F238E27FC236}">
                <a16:creationId xmlns:a16="http://schemas.microsoft.com/office/drawing/2014/main" id="{5D243182-73A0-464F-9BFC-67BD869D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43200"/>
            <a:ext cx="729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Exclus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4DA567-D0B2-4E40-B1C3-D592B0CE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63AA46-537A-4307-8CDA-22038082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194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Application mobile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01760-C977-4521-A7F9-5F2D7BA8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F47DA3-B53E-4B3A-87CC-3A4A2ADD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004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Intégration Google Scholar / Scopus réelle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425B78-5B77-47BF-BE92-D6FFC8CD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07A82C-718A-4873-BB05-EDAD005C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814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Gestion financière avancée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6A7129-E160-41D8-A6BC-2C9076CA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3F3863-E303-43E4-996D-A50683CF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624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IA avancée ou payante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AA15B3-486B-4D97-95F4-993F167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F484A6-543A-47E7-9559-7257565C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434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Workflow administratif complexe</a:t>
            </a:r>
          </a:p>
        </p:txBody>
      </p:sp>
      <p:sp>
        <p:nvSpPr>
          <p:cNvPr id="3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C4A2BD6-62CC-4E9E-9C62-0547CBFD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3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40B98E0-F163-448D-B7DE-A8A23400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06 / 22</a:t>
            </a:r>
          </a:p>
        </p:txBody>
      </p:sp>
    </p:spTree>
    <p:extLst>
      <p:ext uri="{BB962C8B-B14F-4D97-AF65-F5344CB8AC3E}">
        <p14:creationId xmlns:p14="http://schemas.microsoft.com/office/powerpoint/2010/main" val="13340085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082AB09-4AA5-49CF-A9F9-C9928239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D401D207-10B5-4248-B226-BF29CA89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Triangle QCD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6A9770-3B7B-418C-8C24-62DBCBEC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Qualité, coût et délai : trois contraintes liées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283CA41-BB48-4FEF-92E7-0B3AB274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6038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Modifier l’une de ces contraintes impacte directement les autres.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1A9D6-E030-4E17-9662-8E0B5F50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4762500" cy="409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BEAFE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AA2ED-1DE6-4E2A-AAE9-56164C11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3733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 i="0">
                <a:solidFill>
                  <a:srgbClr val="1E40AF"/>
                </a:solidFill>
              </a:defRPr>
            </a:pPr>
            <a:r>
              <a:rPr sz="5250" b="1" i="0">
                <a:solidFill>
                  <a:srgbClr val="1E40AF"/>
                </a:solidFill>
              </a:rPr>
              <a:t>QCD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51814-2261-4101-AFC4-CFC97E1B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373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F172A"/>
                </a:solidFill>
              </a:defRPr>
            </a:pPr>
            <a:r>
              <a:rPr sz="2100" b="1" i="0">
                <a:solidFill>
                  <a:srgbClr val="0F172A"/>
                </a:solidFill>
              </a:rPr>
              <a:t>Qualité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F1315-7384-4C46-9CF8-F2EE70F0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373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F172A"/>
                </a:solidFill>
              </a:defRPr>
            </a:pPr>
            <a:r>
              <a:rPr sz="2100" b="1" i="0">
                <a:solidFill>
                  <a:srgbClr val="0F172A"/>
                </a:solidFill>
              </a:rPr>
              <a:t>Coût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F6E59-68E2-4A0C-8272-159F0EBC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19850"/>
            <a:ext cx="373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F172A"/>
                </a:solidFill>
              </a:defRPr>
            </a:pPr>
            <a:r>
              <a:rPr sz="2100" b="1" i="0">
                <a:solidFill>
                  <a:srgbClr val="0F172A"/>
                </a:solidFill>
              </a:rPr>
              <a:t>Délai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5CA9B-5048-455B-814C-26BDBF82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11010900" cy="226060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B50E3-AE43-442F-B6EB-82ED5E95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768F4-F72A-4174-ABBC-4F3CC1B9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1030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Qualité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3BB61-9216-4523-BFA2-FBC82CFE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1FFB5-E641-4EE5-BBCC-24BAFBD5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05100"/>
            <a:ext cx="1034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Application fonctionnelle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09FC3-A0CC-449A-B3CA-E98F88C5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6D93A-0314-4844-AECC-237BD7BF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52750"/>
            <a:ext cx="1034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Données cohérentes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CA8B3-DA73-43DD-9800-8B67525D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85FF4-328C-41BF-996C-31BDC60E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81350"/>
            <a:ext cx="1034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Interface claire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8162E-6A52-4147-9FFF-1BC5395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BDF36-387F-4D7E-AD03-06B361D7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09950"/>
            <a:ext cx="1034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Sécurité minimale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AC4A3-916D-4569-9A9C-25CE6049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2E00E-F7B8-44A2-AB74-DADEB307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38550"/>
            <a:ext cx="1034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Tests CRUD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209C91-DD88-46F5-958F-A49E9799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03750"/>
            <a:ext cx="11010900" cy="226060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FBB44F-5E27-4A20-938B-5FB0F005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00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C938F7-AE0E-45A2-97D5-EE9AFF19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1030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Coût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15CDBD-ED2D-4978-8CCB-27B14DD4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86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7B5783-5700-4363-8FD5-E40E9E1E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86350"/>
            <a:ext cx="1034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Outils open-source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170D65-F457-4783-AEB5-CA5E76C3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14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9D6AA7-60C3-47A2-B428-05E5016A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14950"/>
            <a:ext cx="1034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Laravel, React, MySQL, FastAPI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BED7AE-43FD-4C20-B617-090C7A8C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4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ADA7DC-5730-4EBC-B726-BF4DF364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543550"/>
            <a:ext cx="1034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Aucun service payant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89D19E-D691-4C8A-9A46-ACCC04A6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91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30219B-BEE5-407B-BF85-8156934A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91200"/>
            <a:ext cx="1034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Développement étudiant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3F62D0-58EB-44B4-9905-793117B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978650"/>
            <a:ext cx="11010900" cy="226060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E0F8DF-51ED-4B63-8D6D-36B5E1BA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181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CAFC1B-1B9A-4473-ABFD-6C127CFE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124700"/>
            <a:ext cx="1030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Délai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CCE3A1-6172-4355-BDC0-3D7688C9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46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62EB0B-9705-4C1E-A454-178D2BDB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467600"/>
            <a:ext cx="1034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Durée limitée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879E20-7959-4F9E-9C3C-752A3C77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69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FD2BA5-4518-486B-BA44-9C7FD0C9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696200"/>
            <a:ext cx="1034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Livraison progressive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48CC8B-5FFE-462C-A22A-B28ED749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92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94D71A-96F5-4A79-A407-2B91A2EF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924800"/>
            <a:ext cx="1034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Priorisation du MVP</a:t>
            </a:r>
          </a:p>
        </p:txBody>
      </p:sp>
      <p:sp>
        <p:nvSpPr>
          <p:cNvPr id="4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5ADB845-DF6B-493D-BD01-398B386D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4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622EDED-47FB-4DF3-B881-19F6416C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07 / 22</a:t>
            </a:r>
          </a:p>
        </p:txBody>
      </p:sp>
    </p:spTree>
    <p:extLst>
      <p:ext uri="{BB962C8B-B14F-4D97-AF65-F5344CB8AC3E}">
        <p14:creationId xmlns:p14="http://schemas.microsoft.com/office/powerpoint/2010/main" val="16487131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E7C57399-46E2-4B00-8A15-D216A15D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D8FE90D1-5F88-4ABF-B53E-9D6607D8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Acteurs et rôles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F41AEE-5A06-4109-8F5A-BCCD2583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Une lecture projet et une lecture application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743F7C-1BD6-49A6-9877-568B5E84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746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Les acteurs ont été identifiés pour cadrer les responsabilités et les droits d accès.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10AA81C7-FFEA-46B4-89E5-76C10432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1230"/>
            <a:ext cx="8172450" cy="7025640"/>
          </a:xfrm>
          <a:prstGeom xmlns:a="http://schemas.openxmlformats.org/drawingml/2006/main" prst="roundRect">
            <a:avLst>
              <a:gd name="adj" fmla="val 3254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6" name="card-dot">
            <a:extLst xmlns:a="http://schemas.openxmlformats.org/drawingml/2006/main">
              <a:ext uri="{FF2B5EF4-FFF2-40B4-BE49-F238E27FC236}">
                <a16:creationId xmlns:a16="http://schemas.microsoft.com/office/drawing/2014/main" id="{F8D146B8-9C99-4E31-A1AB-9591A313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CCBB747E-7FCF-4AAD-A8FE-2FF1D127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729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Acteurs projet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BB146-D2E0-457D-A278-BDAEE348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68098-EF3B-446D-827B-A90301FA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MOA : laboratoire universitaire et utilisateurs finaux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14654-6A2B-4EC0-857A-9DE80CDB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E773D-224E-43B6-B409-B5CC87C2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MOE : équipe de développement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87406-13EB-46B3-8B07-D1FCE070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4AECC-B737-4E7F-A11A-2EC73268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Chef de projet : coordination, planning, suivi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5EA2C-7C38-4BCE-8BEC-C54CE82B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AAAB2-0EF7-4890-AF9D-ED0A00F2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7670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Utilisateurs finaux : admin, responsable, chercheur</a:t>
            </a:r>
          </a:p>
        </p:txBody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C55FBE69-CD07-4683-9AE3-93133105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21230"/>
            <a:ext cx="8172450" cy="7025640"/>
          </a:xfrm>
          <a:prstGeom xmlns:a="http://schemas.openxmlformats.org/drawingml/2006/main" prst="roundRect">
            <a:avLst>
              <a:gd name="adj" fmla="val 3254"/>
            </a:avLst>
          </a:prstGeom>
          <a:solidFill xmlns:a="http://schemas.openxmlformats.org/drawingml/2006/main">
            <a:srgbClr val="EDE9FE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17" name="card-dot">
            <a:extLst xmlns:a="http://schemas.openxmlformats.org/drawingml/2006/main">
              <a:ext uri="{FF2B5EF4-FFF2-40B4-BE49-F238E27FC236}">
                <a16:creationId xmlns:a16="http://schemas.microsoft.com/office/drawing/2014/main" id="{3F247AD6-6A98-40BF-84FC-B9D94F6C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18" name="card-title">
            <a:extLst xmlns:a="http://schemas.openxmlformats.org/drawingml/2006/main">
              <a:ext uri="{FF2B5EF4-FFF2-40B4-BE49-F238E27FC236}">
                <a16:creationId xmlns:a16="http://schemas.microsoft.com/office/drawing/2014/main" id="{36DF8EA1-8BD7-4FF8-A1F6-493D13BB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57450"/>
            <a:ext cx="729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Rôles application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774F0E-9EF0-490C-B1C2-D24FD8FB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16E751-83C4-49A3-A44F-DD8027E6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Admin : gère toute la plateforme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39B08-5298-49CE-BD8A-4D477B7E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07A8A-F756-418D-8DCE-84121979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Responsable : gère les activités du laboratoire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6BE3EE-D6C7-4184-ADF3-30095631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018D7-763D-4AE0-845E-EAE20DFF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1475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Chercheur : consulte et ajoute ses contributions</a:t>
            </a:r>
          </a:p>
        </p:txBody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391C83B-F504-4B58-8DE4-229ACD9E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2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C8EC9A3-F1F1-4DE7-955F-D36176EB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08 / 22</a:t>
            </a:r>
          </a:p>
        </p:txBody>
      </p:sp>
    </p:spTree>
    <p:extLst>
      <p:ext uri="{BB962C8B-B14F-4D97-AF65-F5344CB8AC3E}">
        <p14:creationId xmlns:p14="http://schemas.microsoft.com/office/powerpoint/2010/main" val="18232270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CA275E1-8B44-421A-8EA1-F77158A1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D97E9149-BD5A-488E-A0C9-029E5789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Fonctionnalités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3903B4-1B52-41B5-B335-8B075DDB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Sept modules pour couvrir le cycle d activité du laboratoire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8569AB7-2844-4C2E-B801-1C678601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716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Chaque module correspond à un besoin fonctionnel identifié dans le cadrage.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DA1FB7AA-EE62-4464-8B2B-57EA0B21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029075" cy="3280410"/>
          </a:xfrm>
          <a:prstGeom xmlns:a="http://schemas.openxmlformats.org/drawingml/2006/main" prst="roundRect">
            <a:avLst>
              <a:gd name="adj" fmla="val 6969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6" name="card-dot">
            <a:extLst xmlns:a="http://schemas.openxmlformats.org/drawingml/2006/main">
              <a:ext uri="{FF2B5EF4-FFF2-40B4-BE49-F238E27FC236}">
                <a16:creationId xmlns:a16="http://schemas.microsoft.com/office/drawing/2014/main" id="{C5DA32EA-E0E2-4E79-A57F-C963DE51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D7EB6CA3-5B3F-4AD4-8B51-27A109B3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3162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Membres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717A0F91-3ED9-4711-B17F-F5B63581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3467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34155"/>
                </a:solidFill>
              </a:defRPr>
            </a:pPr>
            <a:r>
              <a:rPr sz="1800" b="0" i="0">
                <a:solidFill>
                  <a:srgbClr val="334155"/>
                </a:solidFill>
              </a:rPr>
              <a:t>Profils, grades et domaines de recherche.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AC267882-52C6-41BD-9606-C393590A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95550"/>
            <a:ext cx="4029075" cy="3280410"/>
          </a:xfrm>
          <a:prstGeom xmlns:a="http://schemas.openxmlformats.org/drawingml/2006/main" prst="roundRect">
            <a:avLst>
              <a:gd name="adj" fmla="val 6969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10" name="card-dot">
            <a:extLst xmlns:a="http://schemas.openxmlformats.org/drawingml/2006/main">
              <a:ext uri="{FF2B5EF4-FFF2-40B4-BE49-F238E27FC236}">
                <a16:creationId xmlns:a16="http://schemas.microsoft.com/office/drawing/2014/main" id="{03C4ACE9-661B-4DC3-93AE-253593F7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06ACC6B0-1E6D-4A2F-9D30-2E927B3C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43200"/>
            <a:ext cx="3162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Projets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974C47F1-6917-49BE-B43C-E6E073B5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19450"/>
            <a:ext cx="3467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34155"/>
                </a:solidFill>
              </a:defRPr>
            </a:pPr>
            <a:r>
              <a:rPr sz="1800" b="0" i="0">
                <a:solidFill>
                  <a:srgbClr val="334155"/>
                </a:solidFill>
              </a:rPr>
              <a:t>Responsable, équipe, statut et budget.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A4CA5C9D-785A-4FA6-AA67-20EB680B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95550"/>
            <a:ext cx="4029075" cy="3280410"/>
          </a:xfrm>
          <a:prstGeom xmlns:a="http://schemas.openxmlformats.org/drawingml/2006/main" prst="roundRect">
            <a:avLst>
              <a:gd name="adj" fmla="val 6969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14" name="card-dot">
            <a:extLst xmlns:a="http://schemas.openxmlformats.org/drawingml/2006/main">
              <a:ext uri="{FF2B5EF4-FFF2-40B4-BE49-F238E27FC236}">
                <a16:creationId xmlns:a16="http://schemas.microsoft.com/office/drawing/2014/main" id="{1A1C689D-CCD3-4BFD-BA3E-BA9BC256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59465B07-2CFC-46CB-BB5E-44C7C07E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43200"/>
            <a:ext cx="3162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Équipements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EFC5721E-9CA6-4F93-B1BB-95CA2453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3467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34155"/>
                </a:solidFill>
              </a:defRPr>
            </a:pPr>
            <a:r>
              <a:rPr sz="1800" b="0" i="0">
                <a:solidFill>
                  <a:srgbClr val="334155"/>
                </a:solidFill>
              </a:rPr>
              <a:t>Inventaire, statut et réservation simple.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B1FD2723-69A9-4113-A58A-1ACE6511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2495550"/>
            <a:ext cx="4029075" cy="3280410"/>
          </a:xfrm>
          <a:prstGeom xmlns:a="http://schemas.openxmlformats.org/drawingml/2006/main" prst="roundRect">
            <a:avLst>
              <a:gd name="adj" fmla="val 6969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18" name="card-dot">
            <a:extLst xmlns:a="http://schemas.openxmlformats.org/drawingml/2006/main">
              <a:ext uri="{FF2B5EF4-FFF2-40B4-BE49-F238E27FC236}">
                <a16:creationId xmlns:a16="http://schemas.microsoft.com/office/drawing/2014/main" id="{D4CE06D5-F601-4A19-8B5A-CD28EC5F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19" name="card-title">
            <a:extLst xmlns:a="http://schemas.openxmlformats.org/drawingml/2006/main">
              <a:ext uri="{FF2B5EF4-FFF2-40B4-BE49-F238E27FC236}">
                <a16:creationId xmlns:a16="http://schemas.microsoft.com/office/drawing/2014/main" id="{E18AA832-69F4-4684-8324-6B71EC6D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2743200"/>
            <a:ext cx="3162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Publications</a:t>
            </a:r>
          </a:p>
        </p:txBody>
      </p:sp>
      <p:sp>
        <p:nvSpPr>
          <p:cNvPr id="20" name="card-body">
            <a:extLst xmlns:a="http://schemas.openxmlformats.org/drawingml/2006/main">
              <a:ext uri="{FF2B5EF4-FFF2-40B4-BE49-F238E27FC236}">
                <a16:creationId xmlns:a16="http://schemas.microsoft.com/office/drawing/2014/main" id="{6D6BA251-2883-4629-8035-56B69442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219450"/>
            <a:ext cx="346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34155"/>
                </a:solidFill>
              </a:defRPr>
            </a:pPr>
            <a:r>
              <a:rPr sz="1800" b="0" i="0">
                <a:solidFill>
                  <a:srgbClr val="334155"/>
                </a:solidFill>
              </a:rPr>
              <a:t>Auteurs, projet lié, DOI et mots-clés.</a:t>
            </a:r>
          </a:p>
        </p:txBody>
      </p:sp>
      <p:sp>
        <p:nvSpPr>
          <p:cNvPr id="21" name="card">
            <a:extLst xmlns:a="http://schemas.openxmlformats.org/drawingml/2006/main">
              <a:ext uri="{FF2B5EF4-FFF2-40B4-BE49-F238E27FC236}">
                <a16:creationId xmlns:a16="http://schemas.microsoft.com/office/drawing/2014/main" id="{52CE7060-5A4F-4975-A333-642E8C55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6460"/>
            <a:ext cx="4029075" cy="3280410"/>
          </a:xfrm>
          <a:prstGeom xmlns:a="http://schemas.openxmlformats.org/drawingml/2006/main" prst="roundRect">
            <a:avLst>
              <a:gd name="adj" fmla="val 6969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22" name="card-dot">
            <a:extLst xmlns:a="http://schemas.openxmlformats.org/drawingml/2006/main">
              <a:ext uri="{FF2B5EF4-FFF2-40B4-BE49-F238E27FC236}">
                <a16:creationId xmlns:a16="http://schemas.microsoft.com/office/drawing/2014/main" id="{A5FAC137-3205-4B0C-93A1-F38E8501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86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</p:spPr>
      </p:sp>
      <p:sp>
        <p:nvSpPr>
          <p:cNvPr id="23" name="card-title">
            <a:extLst xmlns:a="http://schemas.openxmlformats.org/drawingml/2006/main">
              <a:ext uri="{FF2B5EF4-FFF2-40B4-BE49-F238E27FC236}">
                <a16:creationId xmlns:a16="http://schemas.microsoft.com/office/drawing/2014/main" id="{7248EB4B-CAE9-475A-ACD0-AC186BF4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10300"/>
            <a:ext cx="3162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Valorisation</a:t>
            </a:r>
          </a:p>
        </p:txBody>
      </p:sp>
      <p:sp>
        <p:nvSpPr>
          <p:cNvPr id="24" name="card-body">
            <a:extLst xmlns:a="http://schemas.openxmlformats.org/drawingml/2006/main">
              <a:ext uri="{FF2B5EF4-FFF2-40B4-BE49-F238E27FC236}">
                <a16:creationId xmlns:a16="http://schemas.microsoft.com/office/drawing/2014/main" id="{2F5AD27E-D954-47A7-9996-BC4B9218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705600"/>
            <a:ext cx="3467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34155"/>
                </a:solidFill>
              </a:defRPr>
            </a:pPr>
            <a:r>
              <a:rPr sz="1800" b="0" i="0">
                <a:solidFill>
                  <a:srgbClr val="334155"/>
                </a:solidFill>
              </a:rPr>
              <a:t>Brevets, partenariats, événements et prix.</a:t>
            </a:r>
          </a:p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5466C8B5-F815-4B45-A47F-940BCB43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966460"/>
            <a:ext cx="4029075" cy="3280410"/>
          </a:xfrm>
          <a:prstGeom xmlns:a="http://schemas.openxmlformats.org/drawingml/2006/main" prst="roundRect">
            <a:avLst>
              <a:gd name="adj" fmla="val 6969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26" name="card-dot">
            <a:extLst xmlns:a="http://schemas.openxmlformats.org/drawingml/2006/main">
              <a:ext uri="{FF2B5EF4-FFF2-40B4-BE49-F238E27FC236}">
                <a16:creationId xmlns:a16="http://schemas.microsoft.com/office/drawing/2014/main" id="{485BB4FD-255D-4E5F-A3A9-49977B6D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6286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27" name="card-title">
            <a:extLst xmlns:a="http://schemas.openxmlformats.org/drawingml/2006/main">
              <a:ext uri="{FF2B5EF4-FFF2-40B4-BE49-F238E27FC236}">
                <a16:creationId xmlns:a16="http://schemas.microsoft.com/office/drawing/2014/main" id="{590A0538-0970-4D74-AD60-45BC4FA6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10300"/>
            <a:ext cx="3162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Dashboard</a:t>
            </a:r>
          </a:p>
        </p:txBody>
      </p:sp>
      <p:sp>
        <p:nvSpPr>
          <p:cNvPr id="28" name="card-body">
            <a:extLst xmlns:a="http://schemas.openxmlformats.org/drawingml/2006/main">
              <a:ext uri="{FF2B5EF4-FFF2-40B4-BE49-F238E27FC236}">
                <a16:creationId xmlns:a16="http://schemas.microsoft.com/office/drawing/2014/main" id="{88DE1A1B-E3E8-4BB0-9AB5-74251848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705600"/>
            <a:ext cx="346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34155"/>
                </a:solidFill>
              </a:defRPr>
            </a:pPr>
            <a:r>
              <a:rPr sz="1800" b="0" i="0">
                <a:solidFill>
                  <a:srgbClr val="334155"/>
                </a:solidFill>
              </a:rPr>
              <a:t>Cartes statistiques et graphiques.</a:t>
            </a:r>
          </a:p>
        </p:txBody>
      </p:sp>
      <p:sp>
        <p:nvSpPr>
          <p:cNvPr id="29" name="card">
            <a:extLst xmlns:a="http://schemas.openxmlformats.org/drawingml/2006/main">
              <a:ext uri="{FF2B5EF4-FFF2-40B4-BE49-F238E27FC236}">
                <a16:creationId xmlns:a16="http://schemas.microsoft.com/office/drawing/2014/main" id="{D9A3A289-A8BE-4846-8192-817D5BEF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966460"/>
            <a:ext cx="4029075" cy="3280410"/>
          </a:xfrm>
          <a:prstGeom xmlns:a="http://schemas.openxmlformats.org/drawingml/2006/main" prst="roundRect">
            <a:avLst>
              <a:gd name="adj" fmla="val 6969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30" name="card-dot">
            <a:extLst xmlns:a="http://schemas.openxmlformats.org/drawingml/2006/main">
              <a:ext uri="{FF2B5EF4-FFF2-40B4-BE49-F238E27FC236}">
                <a16:creationId xmlns:a16="http://schemas.microsoft.com/office/drawing/2014/main" id="{2B35278C-950F-406F-B948-45493EDD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286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31" name="card-title">
            <a:extLst xmlns:a="http://schemas.openxmlformats.org/drawingml/2006/main">
              <a:ext uri="{FF2B5EF4-FFF2-40B4-BE49-F238E27FC236}">
                <a16:creationId xmlns:a16="http://schemas.microsoft.com/office/drawing/2014/main" id="{3D46DA8D-B639-47AF-A324-C89C82AD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210300"/>
            <a:ext cx="3162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IA/NLP</a:t>
            </a:r>
          </a:p>
        </p:txBody>
      </p:sp>
      <p:sp>
        <p:nvSpPr>
          <p:cNvPr id="32" name="card-body">
            <a:extLst xmlns:a="http://schemas.openxmlformats.org/drawingml/2006/main">
              <a:ext uri="{FF2B5EF4-FFF2-40B4-BE49-F238E27FC236}">
                <a16:creationId xmlns:a16="http://schemas.microsoft.com/office/drawing/2014/main" id="{619AB8B4-7E9C-4C80-A438-17B913A4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05600"/>
            <a:ext cx="3467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34155"/>
                </a:solidFill>
              </a:defRPr>
            </a:pPr>
            <a:r>
              <a:rPr sz="1800" b="0" i="0">
                <a:solidFill>
                  <a:srgbClr val="334155"/>
                </a:solidFill>
              </a:rPr>
              <a:t>Extraction de mots-clés et recommandations.</a:t>
            </a:r>
          </a:p>
        </p:txBody>
      </p:sp>
      <p:sp>
        <p:nvSpPr>
          <p:cNvPr id="33" name="card">
            <a:extLst xmlns:a="http://schemas.openxmlformats.org/drawingml/2006/main">
              <a:ext uri="{FF2B5EF4-FFF2-40B4-BE49-F238E27FC236}">
                <a16:creationId xmlns:a16="http://schemas.microsoft.com/office/drawing/2014/main" id="{40DA6DB2-CBF5-4486-86FB-B03C7CCE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5966460"/>
            <a:ext cx="4029075" cy="3280410"/>
          </a:xfrm>
          <a:prstGeom xmlns:a="http://schemas.openxmlformats.org/drawingml/2006/main" prst="roundRect">
            <a:avLst>
              <a:gd name="adj" fmla="val 6969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34" name="card-dot">
            <a:extLst xmlns:a="http://schemas.openxmlformats.org/drawingml/2006/main">
              <a:ext uri="{FF2B5EF4-FFF2-40B4-BE49-F238E27FC236}">
                <a16:creationId xmlns:a16="http://schemas.microsoft.com/office/drawing/2014/main" id="{8A6A98E8-AE99-49E6-97EA-D85B2821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286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</p:spPr>
      </p:sp>
      <p:sp>
        <p:nvSpPr>
          <p:cNvPr id="35" name="card-title">
            <a:extLst xmlns:a="http://schemas.openxmlformats.org/drawingml/2006/main">
              <a:ext uri="{FF2B5EF4-FFF2-40B4-BE49-F238E27FC236}">
                <a16:creationId xmlns:a16="http://schemas.microsoft.com/office/drawing/2014/main" id="{2EBC22A4-04AD-4F78-92DF-CA0CEC0E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6210300"/>
            <a:ext cx="3162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Documentation</a:t>
            </a:r>
          </a:p>
        </p:txBody>
      </p:sp>
      <p:sp>
        <p:nvSpPr>
          <p:cNvPr id="36" name="card-body">
            <a:extLst xmlns:a="http://schemas.openxmlformats.org/drawingml/2006/main">
              <a:ext uri="{FF2B5EF4-FFF2-40B4-BE49-F238E27FC236}">
                <a16:creationId xmlns:a16="http://schemas.microsoft.com/office/drawing/2014/main" id="{26053AD5-A397-40AC-B912-86BFF7BA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705600"/>
            <a:ext cx="3467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34155"/>
                </a:solidFill>
              </a:defRPr>
            </a:pPr>
            <a:r>
              <a:rPr sz="1800" b="0" i="0">
                <a:solidFill>
                  <a:srgbClr val="334155"/>
                </a:solidFill>
              </a:rPr>
              <a:t>README, conception, risques et tests.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08F671B-8879-41CD-89F0-12BBF4DB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D8CF0EB-805B-4627-9F8B-DDC4198D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09 / 22</a:t>
            </a:r>
          </a:p>
        </p:txBody>
      </p:sp>
    </p:spTree>
    <p:extLst>
      <p:ext uri="{BB962C8B-B14F-4D97-AF65-F5344CB8AC3E}">
        <p14:creationId xmlns:p14="http://schemas.microsoft.com/office/powerpoint/2010/main" val="8306264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ECDD779-601D-4449-A943-AE777E73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6F3EA85A-86A6-4F25-84A0-CC73137A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Architecture technique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5B9CB4-2C45-4C3F-8F5A-29F8BF40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Une architecture en couches claire et évolutive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6EA9D83-516E-4105-A68F-BCF6730E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7315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Chaque couche a une responsabilité distincte, ce qui rend le MVP maintenable.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90849-6B3B-477C-8595-91AE393F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7886700" cy="118110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A59A8-C23F-4B49-AF33-D0633B04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6C575-865C-43DE-A6D9-7D84A4FD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7105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Présentation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799CE-98AA-44CD-8AC5-B72FD74B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735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34155"/>
                </a:solidFill>
              </a:defRPr>
            </a:pPr>
            <a:r>
              <a:rPr sz="1650" b="0" i="0">
                <a:solidFill>
                  <a:srgbClr val="334155"/>
                </a:solidFill>
              </a:rPr>
              <a:t>React + Inertia.js + Tailwind CSS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47FBC-E937-4561-B448-8A78E409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8150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8F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9FE01-DCEC-4B5A-BEA7-082B31F2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24300"/>
            <a:ext cx="7886700" cy="118110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8E2D4-23EC-4C15-A34A-51E6799A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890D9-A28B-4871-B248-D498E1DC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91000"/>
            <a:ext cx="7105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Métier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8F63C-640F-4A87-9BA3-C8E7011C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72000"/>
            <a:ext cx="735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34155"/>
                </a:solidFill>
              </a:defRPr>
            </a:pPr>
            <a:r>
              <a:rPr sz="1650" b="0" i="0">
                <a:solidFill>
                  <a:srgbClr val="334155"/>
                </a:solidFill>
              </a:rPr>
              <a:t>Laravel Controllers + Services + Requests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1EF04-5C05-474A-A31D-8B5DAAC9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7886700" cy="118110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3C5DB-1439-4EB9-B6FE-E8320FA3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38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64187-AE74-4018-ABE7-07AE811F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43550"/>
            <a:ext cx="7105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Données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EB09C-9656-4048-BD89-65D23976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24550"/>
            <a:ext cx="735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34155"/>
                </a:solidFill>
              </a:defRPr>
            </a:pPr>
            <a:r>
              <a:rPr sz="1650" b="0" i="0">
                <a:solidFill>
                  <a:srgbClr val="334155"/>
                </a:solidFill>
              </a:rPr>
              <a:t>MySQL + migrations + seeders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37D89-F954-4154-9621-55E6876F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71500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8F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BD957-762B-4646-8001-81CE1BE3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76850"/>
            <a:ext cx="7886700" cy="118110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A7694-2052-46F4-9D39-C64F29C1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38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E782D-A609-4E8F-91A6-3456CC20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543550"/>
            <a:ext cx="7105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B6EB5-B555-475A-9B44-22BF42E5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924550"/>
            <a:ext cx="735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34155"/>
                </a:solidFill>
              </a:defRPr>
            </a:pPr>
            <a:r>
              <a:rPr sz="1650" b="0" i="0">
                <a:solidFill>
                  <a:srgbClr val="334155"/>
                </a:solidFill>
              </a:rPr>
              <a:t>Python + FastAPI + NLP simple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04667-4D98-4860-8A3F-0818A610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29400"/>
            <a:ext cx="7886700" cy="118110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0E6879-ADCF-4684-82C5-F94A1739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91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4C5BA5-9281-4AC5-89DE-C0F3505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896100"/>
            <a:ext cx="7105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Versioning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C87433-5C39-43F8-B246-2365F0C4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77100"/>
            <a:ext cx="735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34155"/>
                </a:solidFill>
              </a:defRPr>
            </a:pPr>
            <a:r>
              <a:rPr sz="1650" b="0" i="0">
                <a:solidFill>
                  <a:srgbClr val="334155"/>
                </a:solidFill>
              </a:rPr>
              <a:t>Git/GitHub pour suivre les changements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9FAA08-543A-4960-813A-2529000D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08660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8F0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8CC0EC-1F40-4409-AF4B-763F626A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629400"/>
            <a:ext cx="7886700" cy="118110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D1E4B0-A7C8-421B-8369-A72B5A6B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991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FCC92-77B6-4CEF-91D4-75551F68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896100"/>
            <a:ext cx="7105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Qualité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49FDBA-6B43-4852-A6FE-CA1D9584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7277100"/>
            <a:ext cx="735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34155"/>
                </a:solidFill>
              </a:defRPr>
            </a:pPr>
            <a:r>
              <a:rPr sz="1650" b="0" i="0">
                <a:solidFill>
                  <a:srgbClr val="334155"/>
                </a:solidFill>
              </a:rPr>
              <a:t>Tests PHPUnit + validation serveur</a:t>
            </a:r>
          </a:p>
        </p:txBody>
      </p:sp>
      <p:sp>
        <p:nvSpPr>
          <p:cNvPr id="3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D64E619-111F-415D-B51D-466E2AE4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3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9EB7809-8AE2-41F9-BC68-3C5F5FB9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10 / 22</a:t>
            </a:r>
          </a:p>
        </p:txBody>
      </p:sp>
    </p:spTree>
    <p:extLst>
      <p:ext uri="{BB962C8B-B14F-4D97-AF65-F5344CB8AC3E}">
        <p14:creationId xmlns:p14="http://schemas.microsoft.com/office/powerpoint/2010/main" val="146092289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B62C335-3F89-4498-B2DC-A39A6F67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425DF2E9-047C-45DD-A1D1-9973878C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Modèle de données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1FB2AA-4284-4DF0-BE92-A8432A74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Les entités reflètent les activités réelles du laboratoire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57AC2B3-23E9-4B6A-A498-F372F420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7105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Le modèle relie membres, projets, publications, équipements et valorisation.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4C439-F763-4B5C-A4D0-EAE8664C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1230"/>
            <a:ext cx="8172450" cy="7025640"/>
          </a:xfrm>
          <a:prstGeom xmlns:a="http://schemas.openxmlformats.org/drawingml/2006/main" prst="roundRect">
            <a:avLst>
              <a:gd name="adj" fmla="val 37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6147F-17FD-4DD8-B575-D156401C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45080"/>
            <a:ext cx="3676650" cy="1465898"/>
          </a:xfrm>
          <a:prstGeom xmlns:a="http://schemas.openxmlformats.org/drawingml/2006/main" prst="roundRect">
            <a:avLst>
              <a:gd name="adj" fmla="val 11696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01546-C447-4BCB-8A11-F3CFC2D4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24150"/>
            <a:ext cx="3257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4AD6A-9E58-46C8-96D3-3D0515B4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45080"/>
            <a:ext cx="3676650" cy="1465898"/>
          </a:xfrm>
          <a:prstGeom xmlns:a="http://schemas.openxmlformats.org/drawingml/2006/main" prst="roundRect">
            <a:avLst>
              <a:gd name="adj" fmla="val 11696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76434-4570-4010-930A-E8C9343F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24150"/>
            <a:ext cx="3257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Member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40C86-0BF6-4B85-BC90-FCAD750D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82428"/>
            <a:ext cx="3676650" cy="1465898"/>
          </a:xfrm>
          <a:prstGeom xmlns:a="http://schemas.openxmlformats.org/drawingml/2006/main" prst="roundRect">
            <a:avLst>
              <a:gd name="adj" fmla="val 11696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80FF4-617D-473F-BBFB-8443758F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3257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ResearchProject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8AD09-4E22-4E4D-A3CD-7120B960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82428"/>
            <a:ext cx="3676650" cy="1465898"/>
          </a:xfrm>
          <a:prstGeom xmlns:a="http://schemas.openxmlformats.org/drawingml/2006/main" prst="roundRect">
            <a:avLst>
              <a:gd name="adj" fmla="val 11696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78C4F-4148-4940-ADEB-7EAD52D7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62450"/>
            <a:ext cx="3257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Equipment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44DC7-9D54-48D2-846A-86761ADF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19775"/>
            <a:ext cx="3676650" cy="1465898"/>
          </a:xfrm>
          <a:prstGeom xmlns:a="http://schemas.openxmlformats.org/drawingml/2006/main" prst="roundRect">
            <a:avLst>
              <a:gd name="adj" fmla="val 11696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E027F-F7B3-4820-915C-06EC1501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00750"/>
            <a:ext cx="3257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Publication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429B7-10A1-4F53-AEA5-E942CC05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819775"/>
            <a:ext cx="3676650" cy="1465898"/>
          </a:xfrm>
          <a:prstGeom xmlns:a="http://schemas.openxmlformats.org/drawingml/2006/main" prst="roundRect">
            <a:avLst>
              <a:gd name="adj" fmla="val 11696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BEF9F-21EB-4AC2-8EC0-5905C3AE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00750"/>
            <a:ext cx="3257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Valorisation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165227-DF36-4FC5-9373-6713B1A8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457123"/>
            <a:ext cx="3676650" cy="1465898"/>
          </a:xfrm>
          <a:prstGeom xmlns:a="http://schemas.openxmlformats.org/drawingml/2006/main" prst="roundRect">
            <a:avLst>
              <a:gd name="adj" fmla="val 11696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9AC7F-CC68-47FA-86A2-5639F47F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620000"/>
            <a:ext cx="3257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EquipmentReservation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80934-7CDF-488A-8506-D230B0B2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21230"/>
            <a:ext cx="8172450" cy="7025640"/>
          </a:xfrm>
          <a:prstGeom xmlns:a="http://schemas.openxmlformats.org/drawingml/2006/main" prst="roundRect">
            <a:avLst>
              <a:gd name="adj" fmla="val 3796"/>
            </a:avLst>
          </a:prstGeom>
          <a:solidFill xmlns:a="http://schemas.openxmlformats.org/drawingml/2006/main">
            <a:srgbClr val="0F172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F2C43-0563-4E4C-89C8-1CE5932A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69188-890B-4CC9-B9AB-15D6F05C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9080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FFFFFF"/>
                </a:solidFill>
              </a:defRPr>
            </a:pPr>
            <a:r>
              <a:rPr sz="2025" b="0" i="0">
                <a:solidFill>
                  <a:srgbClr val="FFFFFF"/>
                </a:solidFill>
              </a:rPr>
              <a:t>Un membre participe à plusieurs projets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78CE19-846B-4DF6-B6BB-C277AC16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86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945BA1-E4A1-4902-B800-3782E98B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8610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FFFFFF"/>
                </a:solidFill>
              </a:defRPr>
            </a:pPr>
            <a:r>
              <a:rPr sz="2025" b="0" i="0">
                <a:solidFill>
                  <a:srgbClr val="FFFFFF"/>
                </a:solidFill>
              </a:rPr>
              <a:t>Un projet possède un responsable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6C097-D601-4653-8A14-63F9197F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FE164-6A30-42D1-9F26-297F902F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8140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FFFFFF"/>
                </a:solidFill>
              </a:defRPr>
            </a:pPr>
            <a:r>
              <a:rPr sz="2025" b="0" i="0">
                <a:solidFill>
                  <a:srgbClr val="FFFFFF"/>
                </a:solidFill>
              </a:rPr>
              <a:t>Une publication a plusieurs auteurs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7CFA60-11E5-47EE-BE23-9C677F7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DD4B4D-E7BC-4351-9D46-D371114C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7670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FFFFFF"/>
                </a:solidFill>
              </a:defRPr>
            </a:pPr>
            <a:r>
              <a:rPr sz="2025" b="0" i="0">
                <a:solidFill>
                  <a:srgbClr val="FFFFFF"/>
                </a:solidFill>
              </a:rPr>
              <a:t>Un équipement peut être réservé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8AE607-C80D-4044-96DE-61936508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15A69-586F-4239-BC67-2FF667B2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7200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FFFFFF"/>
                </a:solidFill>
              </a:defRPr>
            </a:pPr>
            <a:r>
              <a:rPr sz="2025" b="0" i="0">
                <a:solidFill>
                  <a:srgbClr val="FFFFFF"/>
                </a:solidFill>
              </a:rPr>
              <a:t>Une valorisation peut être liée à un projet ou un membre</a:t>
            </a:r>
          </a:p>
        </p:txBody>
      </p:sp>
      <p:sp>
        <p:nvSpPr>
          <p:cNvPr id="3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480BD55-F52F-47BA-97B2-C5471EB4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3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A3EF0A3-B85F-4CB8-976F-E56794D3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11 / 22</a:t>
            </a:r>
          </a:p>
        </p:txBody>
      </p:sp>
    </p:spTree>
    <p:extLst>
      <p:ext uri="{BB962C8B-B14F-4D97-AF65-F5344CB8AC3E}">
        <p14:creationId xmlns:p14="http://schemas.microsoft.com/office/powerpoint/2010/main" val="8367917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0114CC88-7EE2-4ABB-9E2E-5D68A1A3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BF9D7ABD-5F50-4B0C-8FAD-F2D9D6F9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Méthodes appliquées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8705E7-1B5B-4F55-A441-8ED39FBF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Du cadrage à la livraison : la démarche du cours appliquée au projet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1BE6B09-BC71-4206-8A1F-90736388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7543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Chaque étape de gestion de projet a produit un livrable ou une décision concrète.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AF5F3-13AC-447F-8AD0-30452A08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5BD4A-97E9-4B5D-961C-203CB991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636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Avant-projet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52222-6F41-4D0B-AA35-DE205422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1636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Étude d opportunité, faisabilité, besoins, périmètre, risques initiaux.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6FE24-2667-4182-B503-27BFFFC9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88304-5384-4918-8989-A0794FAB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1636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Conception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0A734-EF68-48B7-82B7-971E12D3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1636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Architecture technique, modèle de données, choix Laravel/React/MySQL/FastAPI.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839A7-B8E0-4C36-8077-400D8081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4B13F-2D0F-4F43-8739-017A1E34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1636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Réalisation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27EBF-0C02-4F7D-8DDB-D0216150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1636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Développement modulaire, Git/GitHub, itérations, CRUD par module.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EC881-A23C-441F-BABF-D62AC3EE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0CF7B-2C08-464C-A637-8A02AA18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1636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9D96B-33F4-46C5-A1CC-EAA69B63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29200"/>
            <a:ext cx="1636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Tests fonctionnels, rôles, CRUD, dashboard et service IA avec mock.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8E00B-7D3E-4371-B5C1-4041BD2C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B93CA-4689-4900-9E95-AB965096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0"/>
            <a:ext cx="1636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Livraison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75FD2-1177-4DFE-99A6-737F7827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53100"/>
            <a:ext cx="1636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README, documentation finale, démonstration et présentation.</a:t>
            </a:r>
          </a:p>
        </p:txBody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E2742EB-068D-4CA4-8496-9F09019C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2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8BE047D-3C5A-4B4E-8676-D6B724A8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12 / 22</a:t>
            </a:r>
          </a:p>
        </p:txBody>
      </p:sp>
    </p:spTree>
    <p:extLst>
      <p:ext uri="{BB962C8B-B14F-4D97-AF65-F5344CB8AC3E}">
        <p14:creationId xmlns:p14="http://schemas.microsoft.com/office/powerpoint/2010/main" val="12399017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C317F5B-22A4-4276-B001-2ACCB1D2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FD2956C2-CCFC-43FF-91AA-275CE69C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Approche hybride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02E72D-AEB6-431B-B5ED-64D5EA7E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Un cadrage structuré, une réalisation itérative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BD58C2-F281-4764-8ADF-A2CE02AF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1019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Le projet avait des besoins connus au départ, mais l interface et l IA demandaient des ajustements progressifs.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1EC84-682A-47C9-A048-D5808768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1230"/>
            <a:ext cx="8181975" cy="7025640"/>
          </a:xfrm>
          <a:prstGeom xmlns:a="http://schemas.openxmlformats.org/drawingml/2006/main" prst="roundRect">
            <a:avLst>
              <a:gd name="adj" fmla="val 3796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EB4F2-CB14-4283-89D4-065C193D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86300"/>
            <a:ext cx="7467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E40AF"/>
                </a:solidFill>
              </a:defRPr>
            </a:pPr>
            <a:r>
              <a:rPr sz="2550" b="1" i="0">
                <a:solidFill>
                  <a:srgbClr val="1E40AF"/>
                </a:solidFill>
              </a:rPr>
              <a:t>Cycle classique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4A851-A4B9-4D0E-ABAC-7EDD6464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7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BF66E-D911-4869-BE9F-F093D114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578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34155"/>
                </a:solidFill>
              </a:defRPr>
            </a:pPr>
            <a:r>
              <a:rPr sz="1950" b="0" i="0">
                <a:solidFill>
                  <a:srgbClr val="334155"/>
                </a:solidFill>
              </a:rPr>
              <a:t>Cadrage initial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2C8F6-E0BB-41E3-BE97-126F82D5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57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7FE87-74D0-4583-B8F2-E23D9FE3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5785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34155"/>
                </a:solidFill>
              </a:defRPr>
            </a:pPr>
            <a:r>
              <a:rPr sz="1950" b="0" i="0">
                <a:solidFill>
                  <a:srgbClr val="334155"/>
                </a:solidFill>
              </a:rPr>
              <a:t>Périmètre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97CB0-7C34-40A7-8497-7530E91C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15482-9985-40D8-9BED-EAB21CF7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7695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34155"/>
                </a:solidFill>
              </a:defRPr>
            </a:pPr>
            <a:r>
              <a:rPr sz="1950" b="0" i="0">
                <a:solidFill>
                  <a:srgbClr val="334155"/>
                </a:solidFill>
              </a:rPr>
              <a:t>Conception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B8686-3E18-4133-88E5-D5089BCF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77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4C7CD-9751-461C-BBF8-B0DC1BE5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770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34155"/>
                </a:solidFill>
              </a:defRPr>
            </a:pPr>
            <a:r>
              <a:rPr sz="1950" b="0" i="0">
                <a:solidFill>
                  <a:srgbClr val="334155"/>
                </a:solidFill>
              </a:rPr>
              <a:t>Planification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ACE3E-191F-4EE2-AD4E-17F06E99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221230"/>
            <a:ext cx="8181975" cy="7025640"/>
          </a:xfrm>
          <a:prstGeom xmlns:a="http://schemas.openxmlformats.org/drawingml/2006/main" prst="roundRect">
            <a:avLst>
              <a:gd name="adj" fmla="val 3796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4F077-3D8C-4935-84A1-D18F869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86300"/>
            <a:ext cx="7467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7C3AED"/>
                </a:solidFill>
              </a:defRPr>
            </a:pPr>
            <a:r>
              <a:rPr sz="2550" b="1" i="0">
                <a:solidFill>
                  <a:srgbClr val="7C3AED"/>
                </a:solidFill>
              </a:rPr>
              <a:t>Agile / Kanban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0BD68-F74D-4870-9259-2937E67D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57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6718B-4181-4CEB-B0B4-416ED22E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2578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34155"/>
                </a:solidFill>
              </a:defRPr>
            </a:pPr>
            <a:r>
              <a:rPr sz="1950" b="0" i="0">
                <a:solidFill>
                  <a:srgbClr val="334155"/>
                </a:solidFill>
              </a:rPr>
              <a:t>Backlog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26A81-86A7-412F-B7F8-1578DBEE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657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5CEFE-C874-46BF-919B-B558CE38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5785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34155"/>
                </a:solidFill>
              </a:defRPr>
            </a:pPr>
            <a:r>
              <a:rPr sz="1950" b="0" i="0">
                <a:solidFill>
                  <a:srgbClr val="334155"/>
                </a:solidFill>
              </a:rPr>
              <a:t>Sprints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8FB2FF-7DAE-47AD-909B-C67AF05C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07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904FD-DE5C-4DF0-ABBA-5715D690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7695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34155"/>
                </a:solidFill>
              </a:defRPr>
            </a:pPr>
            <a:r>
              <a:rPr sz="1950" b="0" i="0">
                <a:solidFill>
                  <a:srgbClr val="334155"/>
                </a:solidFill>
              </a:rPr>
              <a:t>Livraison incrémentale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C99154-3134-415C-8D14-2938C294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477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90BBBC-0068-49BC-A95B-803EC44E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770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34155"/>
                </a:solidFill>
              </a:defRPr>
            </a:pPr>
            <a:r>
              <a:rPr sz="1950" b="0" i="0">
                <a:solidFill>
                  <a:srgbClr val="334155"/>
                </a:solidFill>
              </a:rPr>
              <a:t>Amélioration continue</a:t>
            </a:r>
          </a:p>
        </p:txBody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959562E-57C2-4E45-BE7F-0C3D5460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2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A14E087-BCAC-4299-B614-CBE8ECDB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13 / 22</a:t>
            </a:r>
          </a:p>
        </p:txBody>
      </p:sp>
    </p:spTree>
    <p:extLst>
      <p:ext uri="{BB962C8B-B14F-4D97-AF65-F5344CB8AC3E}">
        <p14:creationId xmlns:p14="http://schemas.microsoft.com/office/powerpoint/2010/main" val="128082724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D993AE0-E9A3-45F6-9950-E9CE21C2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3A860DE3-BF1C-4E02-9143-8782EF13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Roadmap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656AAE-574F-4C99-855C-05A87AA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Quatre sprints pour livrer un MVP complet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E7047C2-7C69-4520-9ED0-7A6BE41D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552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La roadmap transforme les objectifs en étapes maîtrisables.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A210F2F9-665B-42A9-B624-582938C5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1230"/>
            <a:ext cx="4029075" cy="702564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6" name="card-dot">
            <a:extLst xmlns:a="http://schemas.openxmlformats.org/drawingml/2006/main">
              <a:ext uri="{FF2B5EF4-FFF2-40B4-BE49-F238E27FC236}">
                <a16:creationId xmlns:a16="http://schemas.microsoft.com/office/drawing/2014/main" id="{1401FD6B-66A7-4731-933D-299D3C83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B897C93E-1CA2-426C-B75E-1CFE267C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3162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Sprint 1 — Cadrage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3B422-7E57-46C2-B085-3BE27019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8EF31-E1E0-4A56-BA45-8B3AE600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Cahier des charges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A52E2-25E6-41E2-A48D-EC09BD1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FAF2D-E366-470A-9C47-75E8B5D5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Périmètre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61B9C-8D18-48E7-9B46-7859516C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3EE62-321C-472D-98C1-B3A47274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Rôles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A61C9-7D22-47D8-8023-6FFB173A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43529-E3FA-462E-812B-459F3D5E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7670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Architecture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1880B-1477-44AF-9D9B-9A037265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BA8BE-41B0-48FF-A67F-29AAF115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5770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Base de données</a:t>
            </a:r>
          </a:p>
        </p:txBody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D82EAF5F-FBC9-4EEC-8E1F-099B93CD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21230"/>
            <a:ext cx="4029075" cy="702564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19" name="card-dot">
            <a:extLst xmlns:a="http://schemas.openxmlformats.org/drawingml/2006/main">
              <a:ext uri="{FF2B5EF4-FFF2-40B4-BE49-F238E27FC236}">
                <a16:creationId xmlns:a16="http://schemas.microsoft.com/office/drawing/2014/main" id="{921DF73A-3329-44C7-89BF-8A7A7688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20" name="card-title">
            <a:extLst xmlns:a="http://schemas.openxmlformats.org/drawingml/2006/main">
              <a:ext uri="{FF2B5EF4-FFF2-40B4-BE49-F238E27FC236}">
                <a16:creationId xmlns:a16="http://schemas.microsoft.com/office/drawing/2014/main" id="{A9E421E4-2883-4A48-9F08-E6AFB5FC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3162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Sprint 2 — 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B5293-319E-4907-AAB4-FCC8955A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40449-676C-43A8-81AB-0D0DF585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Migrations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9D237-30AE-44B6-9AC6-D1A57667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D0918-58FD-4E62-9954-0866C4B1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Models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F44A5E-F498-45CB-9134-1079951F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1CC24C-DAF4-4961-B1BE-2DA238DC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Controllers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A3F00B-2F4B-4651-B708-D5DA6820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724B7E-408F-4651-8C58-B4716E3B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7670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Authentification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0BD20B-8029-4D1E-844B-BFC98ECA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3E9FAA-9F8B-4CAE-BAE7-7938DFF7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5770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Rôles</a:t>
            </a:r>
          </a:p>
        </p:txBody>
      </p:sp>
      <p:sp>
        <p:nvSpPr>
          <p:cNvPr id="31" name="card">
            <a:extLst xmlns:a="http://schemas.openxmlformats.org/drawingml/2006/main">
              <a:ext uri="{FF2B5EF4-FFF2-40B4-BE49-F238E27FC236}">
                <a16:creationId xmlns:a16="http://schemas.microsoft.com/office/drawing/2014/main" id="{0AE53777-E121-4867-AFFB-8BDAB1E1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21230"/>
            <a:ext cx="4029075" cy="702564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32" name="card-dot">
            <a:extLst xmlns:a="http://schemas.openxmlformats.org/drawingml/2006/main">
              <a:ext uri="{FF2B5EF4-FFF2-40B4-BE49-F238E27FC236}">
                <a16:creationId xmlns:a16="http://schemas.microsoft.com/office/drawing/2014/main" id="{744CFE3C-03FB-4F7B-BCB0-81F8AC91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33" name="card-title">
            <a:extLst xmlns:a="http://schemas.openxmlformats.org/drawingml/2006/main">
              <a:ext uri="{FF2B5EF4-FFF2-40B4-BE49-F238E27FC236}">
                <a16:creationId xmlns:a16="http://schemas.microsoft.com/office/drawing/2014/main" id="{BA5F4989-A1DC-4BD9-9CE1-ECE204E2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57450"/>
            <a:ext cx="3162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Sprint 3 — Frontend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0DF438-B0C3-498F-A886-9DE10DAE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753F63-3109-4782-9127-AC8A010E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527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Pages React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FB0103-B5DC-48D1-9669-28CBE1DC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3FAAD5-2A1C-4F15-BEB4-BC9F2D28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337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Dashboard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070848-0882-4945-A8A3-62E3295E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987FA2-0302-4834-B0A5-C8D4A324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147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Formulaires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B2A6B9-EEA7-4F6A-84CC-8D26D4D6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8CE86A-21DA-4515-AAD3-2AAD6670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7670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Navigation</a:t>
            </a:r>
          </a:p>
        </p:txBody>
      </p:sp>
      <p:sp>
        <p:nvSpPr>
          <p:cNvPr id="42" name="card">
            <a:extLst xmlns:a="http://schemas.openxmlformats.org/drawingml/2006/main">
              <a:ext uri="{FF2B5EF4-FFF2-40B4-BE49-F238E27FC236}">
                <a16:creationId xmlns:a16="http://schemas.microsoft.com/office/drawing/2014/main" id="{27BE5830-48C6-466B-8E3C-81E9CAD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2221230"/>
            <a:ext cx="4029075" cy="702564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43" name="card-dot">
            <a:extLst xmlns:a="http://schemas.openxmlformats.org/drawingml/2006/main">
              <a:ext uri="{FF2B5EF4-FFF2-40B4-BE49-F238E27FC236}">
                <a16:creationId xmlns:a16="http://schemas.microsoft.com/office/drawing/2014/main" id="{DF2DD5CD-1547-4754-B34C-93BEE158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44" name="card-title">
            <a:extLst xmlns:a="http://schemas.openxmlformats.org/drawingml/2006/main">
              <a:ext uri="{FF2B5EF4-FFF2-40B4-BE49-F238E27FC236}">
                <a16:creationId xmlns:a16="http://schemas.microsoft.com/office/drawing/2014/main" id="{4D155917-C548-468E-A32B-8F4D5188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2457450"/>
            <a:ext cx="3162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Sprint 4 — Livraison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4D3F09-5CE5-42BE-86CB-07E8527B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18AEE0-561D-42D2-976A-A233DE4D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9527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FastAPI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B0454D-6181-4CCE-994D-6CA0F1E8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B66ECF-12C8-40AB-9F17-F9186F4C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33337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Intégration IA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A848F4-947E-4751-A691-53055149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97F869-5226-400C-9FD3-1FE6EFD0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37147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Tests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A9384E-6F08-47A8-9F84-39FE2850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153027-6890-422B-BE42-3BE8677D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407670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Documentation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D24A80-102F-4DC4-896F-8992CE03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D659B6-CC4D-499A-818F-DB1EB815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445770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Présentation</a:t>
            </a:r>
          </a:p>
        </p:txBody>
      </p:sp>
      <p:sp>
        <p:nvSpPr>
          <p:cNvPr id="5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A1E0791-DE1D-4857-A7BD-A0E7D725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5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CBD00DC-4C28-4D04-9EB2-41307D26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14 / 22</a:t>
            </a:r>
          </a:p>
        </p:txBody>
      </p:sp>
    </p:spTree>
    <p:extLst>
      <p:ext uri="{BB962C8B-B14F-4D97-AF65-F5344CB8AC3E}">
        <p14:creationId xmlns:p14="http://schemas.microsoft.com/office/powerpoint/2010/main" val="96628056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9E59DF5-0FAC-4B5D-A764-2F2E700C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DE99F96D-897E-44E3-BAE3-FF271C73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Backlog / Kanban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11CF9F-8EEC-4CDF-BDDD-E8041909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Un suivi visuel pour contrôler l avancement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45874B-3EEB-437C-BEE4-5040B834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6553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Le Kanban permet de voir ce qui reste, ce qui avance et ce qui est livré.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BF7044AE-4809-4655-A51C-DFD6EDA8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5397500" cy="6751320"/>
          </a:xfrm>
          <a:prstGeom xmlns:a="http://schemas.openxmlformats.org/drawingml/2006/main" prst="roundRect">
            <a:avLst>
              <a:gd name="adj" fmla="val 4235"/>
            </a:avLst>
          </a:prstGeom>
          <a:solidFill xmlns:a="http://schemas.openxmlformats.org/drawingml/2006/main">
            <a:srgbClr val="FEF3C7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6" name="card-dot">
            <a:extLst xmlns:a="http://schemas.openxmlformats.org/drawingml/2006/main">
              <a:ext uri="{FF2B5EF4-FFF2-40B4-BE49-F238E27FC236}">
                <a16:creationId xmlns:a16="http://schemas.microsoft.com/office/drawing/2014/main" id="{39835769-E52E-44CC-91CD-F4327622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3F390220-545B-4E6A-B588-D985C820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4514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À faire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A0605-8564-4BD7-90B8-C8F71983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62E71-FADD-438D-BE01-B0C0FE0E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194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Gestion utilisateurs avancée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C58CA-2652-4F3D-88C4-83E9925A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EB11C-451C-482B-A079-777666DF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IA avancée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59064-1A0A-4E5A-BE47-6C4520FB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B0D25-622A-4F5D-A03B-B611A151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Export PDF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0AAEC484-5E21-4A8C-B1B6-7DE0A22A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495550"/>
            <a:ext cx="5397500" cy="6751320"/>
          </a:xfrm>
          <a:prstGeom xmlns:a="http://schemas.openxmlformats.org/drawingml/2006/main" prst="roundRect">
            <a:avLst>
              <a:gd name="adj" fmla="val 4235"/>
            </a:avLst>
          </a:prstGeom>
          <a:solidFill xmlns:a="http://schemas.openxmlformats.org/drawingml/2006/main">
            <a:srgbClr val="DBEAFE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15" name="card-dot">
            <a:extLst xmlns:a="http://schemas.openxmlformats.org/drawingml/2006/main">
              <a:ext uri="{FF2B5EF4-FFF2-40B4-BE49-F238E27FC236}">
                <a16:creationId xmlns:a16="http://schemas.microsoft.com/office/drawing/2014/main" id="{F8DF16BC-F960-4831-A24C-DA490A39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C510A6D0-8A91-4299-A3BD-400556F1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4514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En cours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F4796-0F99-432A-8CBB-6EC99854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C4985-C75A-4F7E-B220-C0C0021B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194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Amélioration interface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A857B-0B2A-492F-848D-66695E28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59480-BF60-4525-BA62-2E9884A9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Tests complémentaires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B43F1-21C6-43D3-BE90-B30D061F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B34EB-FA72-407B-91A7-D2379B9D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814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Préparation soutenance</a:t>
            </a:r>
          </a:p>
        </p:txBody>
      </p:sp>
      <p:sp>
        <p:nvSpPr>
          <p:cNvPr id="23" name="card">
            <a:extLst xmlns:a="http://schemas.openxmlformats.org/drawingml/2006/main">
              <a:ext uri="{FF2B5EF4-FFF2-40B4-BE49-F238E27FC236}">
                <a16:creationId xmlns:a16="http://schemas.microsoft.com/office/drawing/2014/main" id="{64A0062D-CA97-4703-AD74-4198626F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2495550"/>
            <a:ext cx="5397500" cy="6751320"/>
          </a:xfrm>
          <a:prstGeom xmlns:a="http://schemas.openxmlformats.org/drawingml/2006/main" prst="roundRect">
            <a:avLst>
              <a:gd name="adj" fmla="val 4235"/>
            </a:avLst>
          </a:prstGeom>
          <a:solidFill xmlns:a="http://schemas.openxmlformats.org/drawingml/2006/main">
            <a:srgbClr val="D1FAE5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24" name="card-dot">
            <a:extLst xmlns:a="http://schemas.openxmlformats.org/drawingml/2006/main">
              <a:ext uri="{FF2B5EF4-FFF2-40B4-BE49-F238E27FC236}">
                <a16:creationId xmlns:a16="http://schemas.microsoft.com/office/drawing/2014/main" id="{0646D780-66C8-4680-A836-449AAE89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25" name="card-title">
            <a:extLst xmlns:a="http://schemas.openxmlformats.org/drawingml/2006/main">
              <a:ext uri="{FF2B5EF4-FFF2-40B4-BE49-F238E27FC236}">
                <a16:creationId xmlns:a16="http://schemas.microsoft.com/office/drawing/2014/main" id="{59C63ABB-0BB1-4A35-B418-3867188C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2743200"/>
            <a:ext cx="4514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Terminé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3C8F7D-535B-4DCE-A4D7-2F90BD7E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A2BAB5-03D2-4046-B5A8-A0AF56F8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2194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Authentification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C1156D-B382-4B22-B5BE-C6B42B0C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4945CB-5226-4B48-B857-38914610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6004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CRUD principaux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F1D2AE-0E1E-4165-B1D8-119D37CB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A530AA-D9C8-41B7-BD61-CBDA9F42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9814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Dashboard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DD61D0-3F29-40AC-B50D-8D0F524A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E746A6-02DF-4041-B4A2-ECB33CFA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3624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Valorisation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64DEA5-0D07-4E56-BF4C-DC25AC32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360F05-6767-4F78-B5D1-BC3AC5CE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7434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Service IA simple</a:t>
            </a:r>
          </a:p>
        </p:txBody>
      </p:sp>
      <p:sp>
        <p:nvSpPr>
          <p:cNvPr id="3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9AD2B96-944E-409A-BC9F-D3DC738A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3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1EEBA7F-B0B9-4395-9217-1B905EBC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15 / 22</a:t>
            </a:r>
          </a:p>
        </p:txBody>
      </p:sp>
    </p:spTree>
    <p:extLst>
      <p:ext uri="{BB962C8B-B14F-4D97-AF65-F5344CB8AC3E}">
        <p14:creationId xmlns:p14="http://schemas.microsoft.com/office/powerpoint/2010/main" val="188203828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EDFA6A4F-F6E3-4D40-B0B9-FA5ED654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58DEB6EA-0E88-411C-A2CA-FADD237E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Planning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33F043-5158-49FE-A868-4B0E5ADA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Un mini-Gantt pour maîtriser le délai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0122FF3-3210-46E1-9CAA-B0598A7F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7905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Le planning a permis de prioriser le MVP et d organiser le travail sur quatre semaines.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7AD25-41DF-4086-946A-24B80149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Analyse et cadrage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C8043-CBD8-44BC-A8EB-EF6F9966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908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F93F7-F5B4-48A0-98BD-AB8DBE96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432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Semaine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3355E-F6AE-4699-AE97-318D7821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163" y="25908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631E6-A9D4-493B-A096-D62BB7F7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F0875-F3F2-440B-ADAB-33360F94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5908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B8E08-15B4-4867-A6D3-87EC7321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7432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5341D-AC75-4B63-8E35-BC711219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88" y="25908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AA1B1-4E84-4FEE-9467-1066E999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27432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00915-69D2-4FB0-B7B2-C7D384C8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Conception BD et architecture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0D5B9-1CDD-4ABA-9EBE-D4B4BEFA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C3AED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1B7B2-8FC3-47EA-A691-F589F6F7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3855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Semaine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7D994-9F95-489B-88D2-2DBCF4BE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163" y="348615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E9047-C25A-4937-922B-E257B61F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A38F7-C54F-4846-9470-ECE51BB1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48615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6C7E0-38A9-4294-9DD3-6AAB6CAE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63855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CCB69-C2E9-4CFD-8304-ECF79C3A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88" y="348615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AF8247-2562-4B56-8D6E-CA47ED76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363855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75C4B-08F7-4CD6-A030-E00A2EB6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Backend Laravel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29949D-1FBF-48A9-B504-1A290276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815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CBAF6E-16CD-4A31-9803-B4E07FC4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339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E4471B-FACC-484E-BB41-7A786221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163" y="43815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0E467-C25D-499C-8BA8-8434D5C7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339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Semaine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9725CD-B018-45F3-9273-7CAB1F3A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3815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F65A45-4D20-4CF6-B160-0B4039B2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5339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E97D97-2C49-4949-8C32-27242B4F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88" y="43815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69E6C4-C8CC-49D8-ACE3-E5125E40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45339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78F3F9-D1D6-43CC-935E-1D712C87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Frontend React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DEBA7D-DFAF-4384-84B2-D984C529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27685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32D623-964C-4ABF-BE9E-C9948681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2925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AE0AB0-FF65-4C3F-B3FE-40549828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163" y="527685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40A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B7D6F6-07F7-4C5B-9051-D7F4B5E6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2925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Semaine 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C39FEF-0CC3-4594-8947-2B8FEBA3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27685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40A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988796-12AB-4CBB-A17D-01210855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42925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Semaine 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19F3FD-2E75-433C-B463-DAE5EEAB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88" y="527685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1EF27E-A674-41A5-A2CD-5E4B4548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542925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1D569D-1733-4E7A-B197-AB5BC6AB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055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IA / FastAPI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34EF60-F01F-4DD4-98BB-24BC3EE9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1722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BAFAF9-A14F-44D6-9CD0-5B496B51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3246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3D7BCA-7A09-48B6-AD11-75E0BCE1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163" y="61722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E6DC72-1F3B-48CE-8729-1B3D7F7D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246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D9C738-CF1F-4A1C-99CE-02CDA855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1722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8646E4-9727-4CAB-8F47-2C5867B2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3246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Semaine 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8BC022-5806-4181-935F-7310D884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88" y="61722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7B079C-208B-4B4E-941B-BB18F39C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63246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8164A7-A154-4690-8D59-E851D956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009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Tests et corrections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E666FC-05CE-46C6-A42C-F881DE55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706755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DDA785-48E2-4326-A25E-8EECA62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21995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592511-EC3C-47E8-A460-3DA3CCFE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163" y="706755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94A32CE-0E8C-4467-BDEE-A652B9CD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1995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561397-2EE6-4935-BCF3-749D5712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706755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6E6496-7885-4724-A163-07DD25C0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721995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4CA7BC-2209-484E-ABFE-3F896638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88" y="706755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2626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675826A-41AC-4D60-9844-0691CAC5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721995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Semaine 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C3261B-BDB1-4FD8-BD49-F0E37420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Documentation et présentation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5754D1-162D-4375-82D7-8CCDFED2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79629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AB8E16-C0C0-4744-9488-F6F61055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1153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C6680C-7E74-41D5-8721-932EEAA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163" y="79629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B44631B-A878-41FE-B9D9-025D0A65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1153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2C974A-B20C-48D8-B39A-423F9533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79629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4D52795-3C8B-47CE-B822-41EC2CAB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81153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798DAB-91B0-44CA-A544-A24C810C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88" y="7962900"/>
            <a:ext cx="3033713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34155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C2DD9A9-A758-4396-AB91-0E4F8C46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81153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Semaine 4</a:t>
            </a:r>
          </a:p>
        </p:txBody>
      </p:sp>
      <p:sp>
        <p:nvSpPr>
          <p:cNvPr id="6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CC1A75E-3843-4A1B-98CE-85521417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6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DD7B1E7-CE88-49E8-9B07-1D0831EB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16 / 22</a:t>
            </a:r>
          </a:p>
        </p:txBody>
      </p:sp>
    </p:spTree>
    <p:extLst>
      <p:ext uri="{BB962C8B-B14F-4D97-AF65-F5344CB8AC3E}">
        <p14:creationId xmlns:p14="http://schemas.microsoft.com/office/powerpoint/2010/main" val="4049693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8CC0186-CB5C-4D66-A38F-0E8F677B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4FE0E97B-DCAB-442C-81DA-F4D569D5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Risques et solutions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585B32-FE00-4D28-A45E-C6A0AE18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Anticiper les problèmes pour sécuriser le MVP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5ACEFAA-C6A8-4EC2-BA20-E68A0065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La gestion des risques a été appliquée aux dimensions organisationnelles, techniques, qualité et fonctionnelles.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6DFA8-5EFD-41C7-A0E4-D39F8ED1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1230"/>
            <a:ext cx="48006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172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20680-105E-4388-8F00-42075B6C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449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Risque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2A0AD-F472-4AD0-9A28-A1CD52DC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21230"/>
            <a:ext cx="320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172A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3F473-6ADF-44C6-B77A-B91A17CF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43150"/>
            <a:ext cx="289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B52B5-2B4C-4677-8920-0F3E4966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21230"/>
            <a:ext cx="22002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172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03976-AE47-48CF-B608-77216930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3EACB-EF10-4DA5-88B2-3B002572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21230"/>
            <a:ext cx="62007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172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E1AF9-04DC-40EF-9F7E-0533918D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3431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55ECF-68C9-444D-8CA6-C40A1C74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0830"/>
            <a:ext cx="48006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B8600-2EC7-499D-968C-4EDBB10F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49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Retard de développement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27AB4-F7D1-4A3C-B82B-28FABE74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30830"/>
            <a:ext cx="32004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74B98-35A9-4EF4-99D5-4AF2088D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52750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Organisationnel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2050F-87C3-4EEB-B0D5-BB6B6C19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30830"/>
            <a:ext cx="22002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485A2E-F39F-4A78-A994-A10A2517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DC2626"/>
                </a:solidFill>
              </a:defRPr>
            </a:pPr>
            <a:r>
              <a:rPr sz="1425" b="1" i="0">
                <a:solidFill>
                  <a:srgbClr val="DC2626"/>
                </a:solidFill>
              </a:rPr>
              <a:t>Élevé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17DF67-8368-49D1-96DD-8976443E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30830"/>
            <a:ext cx="62007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6E579-5CE1-4B8C-9F66-3D13FD25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952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Priorisation MVP + tâches réparties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28B90-2C8E-4F2C-AF0B-C11B5275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1880"/>
            <a:ext cx="48006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5F9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80F98-4134-47CE-BE94-C363ED2D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449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Problèmes Git/GitHub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F623A-7C0F-4A28-8004-645673A2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11880"/>
            <a:ext cx="32004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5F9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F4329-FF3F-4F86-B5F5-B6E3F760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33800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Technique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8B829C-C8BD-4ABA-83F8-072A4EC1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11880"/>
            <a:ext cx="22002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5F9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79CB37-D324-41DA-90D7-CAB987F7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334155"/>
                </a:solidFill>
              </a:defRPr>
            </a:pPr>
            <a:r>
              <a:rPr sz="1425" b="1" i="0">
                <a:solidFill>
                  <a:srgbClr val="334155"/>
                </a:solidFill>
              </a:rPr>
              <a:t>Moyen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30A25E-9D44-4C17-92C8-8944CAA5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11880"/>
            <a:ext cx="62007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5F9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16EE20-E158-47F1-AF08-4D82A3C3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7338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Pull régulier + commits clairs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CDE133-3803-4497-8C98-BE5DFE71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2930"/>
            <a:ext cx="48006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BEC135-6D10-42CB-8BA4-A0B96A5E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449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Service IA indisponible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6CD67B-CD05-4571-A2EC-C80A04B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92930"/>
            <a:ext cx="32004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CCBE9C-D9CC-4389-B2C3-1D738161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14850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Technique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97C78F-D98E-4212-9C09-4F31AA0F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92930"/>
            <a:ext cx="22002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234463-2060-4495-9E39-1AFD5B2B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1485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334155"/>
                </a:solidFill>
              </a:defRPr>
            </a:pPr>
            <a:r>
              <a:rPr sz="1425" b="1" i="0">
                <a:solidFill>
                  <a:srgbClr val="334155"/>
                </a:solidFill>
              </a:rPr>
              <a:t>Moyen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A53F00-DC07-4896-BC7F-77B99545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92930"/>
            <a:ext cx="62007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C2DE8D-BB5D-43FC-980B-B0D2DD13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5148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Message propre + fallback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5CF3C3-2C74-43A8-84C0-D30786BD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3980"/>
            <a:ext cx="48006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5F9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CFE221-A83C-4198-BF4E-89470D21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449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Bugs CRUD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E748BD-15BA-4B91-9A62-D82580E6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173980"/>
            <a:ext cx="32004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5F9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8EBFAC-2AB9-46DD-B70B-E697A900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95900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Qualité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0390C5-45D3-4B62-BCB6-AEB9F6BC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73980"/>
            <a:ext cx="22002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5F9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BE4E49-2B27-46F3-91E4-5711C7C5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959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DC2626"/>
                </a:solidFill>
              </a:defRPr>
            </a:pPr>
            <a:r>
              <a:rPr sz="1425" b="1" i="0">
                <a:solidFill>
                  <a:srgbClr val="DC2626"/>
                </a:solidFill>
              </a:rPr>
              <a:t>Élevé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D7D7A4-BE2C-4E9C-A9C8-68C784D7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173980"/>
            <a:ext cx="62007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5F9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A04141-5619-46AA-954E-9FB04425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2959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Tests fonctionnels réguliers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991B00-A432-4BC7-AA12-9912F292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5030"/>
            <a:ext cx="48006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A64B7A-DAC9-458F-933E-6B1368EC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76950"/>
            <a:ext cx="449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Mauvaise compréhension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3056CC-7AF6-4573-9C1B-27818759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955030"/>
            <a:ext cx="32004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9F3688-E1A6-49AB-A32D-031FEFE2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Fonctionnel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0F7CBF-E2FE-4ED5-BE48-56EA8ABC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955030"/>
            <a:ext cx="22002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4093EA-5008-4754-91CF-3D924E14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7695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DC2626"/>
                </a:solidFill>
              </a:defRPr>
            </a:pPr>
            <a:r>
              <a:rPr sz="1425" b="1" i="0">
                <a:solidFill>
                  <a:srgbClr val="DC2626"/>
                </a:solidFill>
              </a:rPr>
              <a:t>Élevé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44757E-2B6C-4C23-B926-600C89A7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955030"/>
            <a:ext cx="62007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2B8F3B-3293-48DC-BCD5-75916C02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0769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Cadrage + périmètre clair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42B691-8F53-4604-A61F-98552F13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36080"/>
            <a:ext cx="48006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5F9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35F773-E1D4-4B02-91C2-7C8B1BB4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58000"/>
            <a:ext cx="449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Problème base de données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51EF52-1D1F-4674-82DC-21616ECA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736080"/>
            <a:ext cx="32004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5F9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CE395B-3364-4CB0-945C-8D66DDA6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858000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Technique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633091-CE24-456A-A8EE-A5F91FE6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736080"/>
            <a:ext cx="22002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5F9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F6BB0F-06D8-48F7-A8D0-11FD30C7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8580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334155"/>
                </a:solidFill>
              </a:defRPr>
            </a:pPr>
            <a:r>
              <a:rPr sz="1425" b="1" i="0">
                <a:solidFill>
                  <a:srgbClr val="334155"/>
                </a:solidFill>
              </a:rPr>
              <a:t>Moyen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2BEB7B-2C87-4CB7-BC4F-A6C6C448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736080"/>
            <a:ext cx="62007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5F9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37FAE3-9AD6-44E8-BCEE-998D3BAD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8580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Migrations + seeders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57526C-558E-4BFA-82D4-DDCEE910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17130"/>
            <a:ext cx="48006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613C59-B570-433C-8B38-71B7ED8C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39050"/>
            <a:ext cx="449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Interface peu claire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65BCFB-BF39-47CD-B5DC-BF98FF74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7517130"/>
            <a:ext cx="32004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7C65B97-9529-4DF4-A56B-C3CE9144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7639050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Ergonomie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F518CAC-62CF-4D8B-8B91-09361F4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7517130"/>
            <a:ext cx="22002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CA0108E-127A-4580-A676-A28434F8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63905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334155"/>
                </a:solidFill>
              </a:defRPr>
            </a:pPr>
            <a:r>
              <a:rPr sz="1425" b="1" i="0">
                <a:solidFill>
                  <a:srgbClr val="334155"/>
                </a:solidFill>
              </a:rPr>
              <a:t>Moyen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AA6C341-1715-42C4-976C-3B83B833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7517130"/>
            <a:ext cx="62007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02E6C2-328A-4874-8439-DC26B078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76390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UI Tailwind + amélioration continue</a:t>
            </a:r>
          </a:p>
        </p:txBody>
      </p:sp>
      <p:sp>
        <p:nvSpPr>
          <p:cNvPr id="6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73F08AE-640A-4933-820B-6D6A965B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7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22E2379-F48F-4D55-855F-FDB9EED9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17 / 22</a:t>
            </a:r>
          </a:p>
        </p:txBody>
      </p:sp>
    </p:spTree>
    <p:extLst>
      <p:ext uri="{BB962C8B-B14F-4D97-AF65-F5344CB8AC3E}">
        <p14:creationId xmlns:p14="http://schemas.microsoft.com/office/powerpoint/2010/main" val="3838237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90AE456-901A-4998-BF1F-9A34CF08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CEE04B65-8402-45C9-B1FD-A2725E1A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Tests et validation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C05FFE-FA10-4C5C-ABE0-F50791EB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Prouver que le MVP fonctionne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59EA8B1-6751-4ABE-92CA-1C7957F3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7981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La validation combine tests fonctionnels, validation des données et tests du service 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B5B3D-7760-46D7-9D1C-3BBD2A9B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8571593" cy="6751320"/>
          </a:xfrm>
          <a:prstGeom xmlns:a="http://schemas.openxmlformats.org/drawingml/2006/main" prst="roundRect">
            <a:avLst>
              <a:gd name="adj" fmla="val 39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88F7D-6861-4A29-A027-9CD6DD1A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1733550" cy="1083564"/>
          </a:xfrm>
          <a:prstGeom xmlns:a="http://schemas.openxmlformats.org/drawingml/2006/main" prst="roundRect">
            <a:avLst>
              <a:gd name="adj" fmla="val 15823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F0408-420D-4D6F-AB9C-E452166E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956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E40AF"/>
                </a:solidFill>
              </a:defRPr>
            </a:pPr>
            <a:r>
              <a:rPr sz="1350" b="1" i="0">
                <a:solidFill>
                  <a:srgbClr val="1E40AF"/>
                </a:solidFill>
              </a:rPr>
              <a:t>Connexion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52312-F809-4D98-B4D2-4E3F8156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621" y="2819400"/>
            <a:ext cx="2647950" cy="1083564"/>
          </a:xfrm>
          <a:prstGeom xmlns:a="http://schemas.openxmlformats.org/drawingml/2006/main" prst="roundRect">
            <a:avLst>
              <a:gd name="adj" fmla="val 15823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8BE8B-F735-4622-8C44-DCEB1FC8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95600"/>
            <a:ext cx="2305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E40AF"/>
                </a:solidFill>
              </a:defRPr>
            </a:pPr>
            <a:r>
              <a:rPr sz="1350" b="1" i="0">
                <a:solidFill>
                  <a:srgbClr val="1E40AF"/>
                </a:solidFill>
              </a:rPr>
              <a:t>Création membre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9DAFF-2CCD-4A2F-8D0B-9E375A17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4414"/>
            <a:ext cx="3257550" cy="1083564"/>
          </a:xfrm>
          <a:prstGeom xmlns:a="http://schemas.openxmlformats.org/drawingml/2006/main" prst="roundRect">
            <a:avLst>
              <a:gd name="adj" fmla="val 15823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F805A-F966-4ECE-ACA6-4444F3BA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2900"/>
            <a:ext cx="2914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E40AF"/>
                </a:solidFill>
              </a:defRPr>
            </a:pPr>
            <a:r>
              <a:rPr sz="1350" b="1" i="0">
                <a:solidFill>
                  <a:srgbClr val="1E40AF"/>
                </a:solidFill>
              </a:rPr>
              <a:t>Modification membre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765C7-5E7A-41D1-ACB3-5189EFDF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621" y="4074414"/>
            <a:ext cx="2647950" cy="1083564"/>
          </a:xfrm>
          <a:prstGeom xmlns:a="http://schemas.openxmlformats.org/drawingml/2006/main" prst="roundRect">
            <a:avLst>
              <a:gd name="adj" fmla="val 15823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504B8-DE77-490E-A23E-EE358950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2305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E40AF"/>
                </a:solidFill>
              </a:defRPr>
            </a:pPr>
            <a:r>
              <a:rPr sz="1350" b="1" i="0">
                <a:solidFill>
                  <a:srgbClr val="1E40AF"/>
                </a:solidFill>
              </a:rPr>
              <a:t>Création projet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88932-BC42-4AB8-BC94-4F3B1632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29428"/>
            <a:ext cx="2800350" cy="1083564"/>
          </a:xfrm>
          <a:prstGeom xmlns:a="http://schemas.openxmlformats.org/drawingml/2006/main" prst="roundRect">
            <a:avLst>
              <a:gd name="adj" fmla="val 15823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C6BA0-0C06-4EDF-AF5B-EB91A944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10200"/>
            <a:ext cx="2457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E40AF"/>
                </a:solidFill>
              </a:defRPr>
            </a:pPr>
            <a:r>
              <a:rPr sz="1350" b="1" i="0">
                <a:solidFill>
                  <a:srgbClr val="1E40AF"/>
                </a:solidFill>
              </a:rPr>
              <a:t>Ajout équipement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70712-7238-49EF-975C-3666E719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621" y="5329428"/>
            <a:ext cx="2952750" cy="1083564"/>
          </a:xfrm>
          <a:prstGeom xmlns:a="http://schemas.openxmlformats.org/drawingml/2006/main" prst="roundRect">
            <a:avLst>
              <a:gd name="adj" fmla="val 15823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775DC-1D0F-4D8D-A54F-488F2588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10200"/>
            <a:ext cx="2609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E40AF"/>
                </a:solidFill>
              </a:defRPr>
            </a:pPr>
            <a:r>
              <a:rPr sz="1350" b="1" i="0">
                <a:solidFill>
                  <a:srgbClr val="1E40AF"/>
                </a:solidFill>
              </a:rPr>
              <a:t>Ajout publication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423AD-097C-47A4-8FEC-0A256B99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584442"/>
            <a:ext cx="2343150" cy="1083564"/>
          </a:xfrm>
          <a:prstGeom xmlns:a="http://schemas.openxmlformats.org/drawingml/2006/main" prst="roundRect">
            <a:avLst>
              <a:gd name="adj" fmla="val 15823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3D0EA-4A9F-462D-8460-29365681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6675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E40AF"/>
                </a:solidFill>
              </a:defRPr>
            </a:pPr>
            <a:r>
              <a:rPr sz="1350" b="1" i="0">
                <a:solidFill>
                  <a:srgbClr val="1E40AF"/>
                </a:solidFill>
              </a:rPr>
              <a:t>Extraction 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6F324-8911-44FD-AD47-73B44FF4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621" y="6584442"/>
            <a:ext cx="2647950" cy="1083564"/>
          </a:xfrm>
          <a:prstGeom xmlns:a="http://schemas.openxmlformats.org/drawingml/2006/main" prst="roundRect">
            <a:avLst>
              <a:gd name="adj" fmla="val 15823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481C0-7A2E-48A2-9907-9DE1B4C0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0"/>
            <a:ext cx="2305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E40AF"/>
                </a:solidFill>
              </a:defRPr>
            </a:pPr>
            <a:r>
              <a:rPr sz="1350" b="1" i="0">
                <a:solidFill>
                  <a:srgbClr val="1E40AF"/>
                </a:solidFill>
              </a:rPr>
              <a:t>Accès 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62F92-3B40-4B33-9FE2-B4C66386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839456"/>
            <a:ext cx="3105150" cy="1083564"/>
          </a:xfrm>
          <a:prstGeom xmlns:a="http://schemas.openxmlformats.org/drawingml/2006/main" prst="roundRect">
            <a:avLst>
              <a:gd name="adj" fmla="val 15823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DF7D5-C569-4AE7-9C26-33666C2D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92480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E40AF"/>
                </a:solidFill>
              </a:defRPr>
            </a:pPr>
            <a:r>
              <a:rPr sz="1350" b="1" i="0">
                <a:solidFill>
                  <a:srgbClr val="1E40AF"/>
                </a:solidFill>
              </a:rPr>
              <a:t>Vérification rôles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3E625C32-1A93-455F-AA44-FD6A3151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543" y="2495550"/>
            <a:ext cx="7792357" cy="6751320"/>
          </a:xfrm>
          <a:prstGeom xmlns:a="http://schemas.openxmlformats.org/drawingml/2006/main" prst="roundRect">
            <a:avLst>
              <a:gd name="adj" fmla="val 3386"/>
            </a:avLst>
          </a:prstGeom>
          <a:solidFill xmlns:a="http://schemas.openxmlformats.org/drawingml/2006/main">
            <a:srgbClr val="D1FAE5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25" name="card-dot">
            <a:extLst xmlns:a="http://schemas.openxmlformats.org/drawingml/2006/main">
              <a:ext uri="{FF2B5EF4-FFF2-40B4-BE49-F238E27FC236}">
                <a16:creationId xmlns:a16="http://schemas.microsoft.com/office/drawing/2014/main" id="{EDE6C068-0DAC-4269-A3F7-6811444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76AE03AB-9373-476D-8A70-5D08370B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43200"/>
            <a:ext cx="6915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Critères de 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06F008-9DA1-44E7-BCBE-A67B9F4B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0AA24C-099C-4058-B154-3EE96947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19450"/>
            <a:ext cx="701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Aucune erreur bloquante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49A2D1-0DFA-4262-9DAE-DE220803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5EA23F-D081-4489-8252-96AE4472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00450"/>
            <a:ext cx="701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CRUD fonctionnels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332E7A-E5F6-4A79-8AE3-405CE849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867BB4-853D-4961-9296-4F7648EF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81450"/>
            <a:ext cx="701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Base de données cohérente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7686EC-AA7E-4A7B-8069-97BC7BA4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99DD30-1DE9-46B2-8745-1C1D6343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362450"/>
            <a:ext cx="701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Interface accessible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100416-5949-456A-8953-55CE557C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D8695F-874C-4826-863F-D6E1EC73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43450"/>
            <a:ext cx="701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Service IA testé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F1346A6-0F27-482E-A839-6046D386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036F46E-9501-43C1-A93C-3BA47C0F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18 / 22</a:t>
            </a:r>
          </a:p>
        </p:txBody>
      </p:sp>
    </p:spTree>
    <p:extLst>
      <p:ext uri="{BB962C8B-B14F-4D97-AF65-F5344CB8AC3E}">
        <p14:creationId xmlns:p14="http://schemas.microsoft.com/office/powerpoint/2010/main" val="118179679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D2EDCEB-DF0B-468C-9D38-466F4BCD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1B154421-F4BE-4C6A-8E6C-21676024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Livrables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7C705-FEB5-4CC1-942C-1141E3A8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Des livrables de gestion, conception, réalisation et validation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A878DEB-267A-40D9-9B2B-1D3269C2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8439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Le projet ne se limite pas au code : il produit aussi des documents de pilotage et de preuve.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C3C72609-6F90-4155-9429-D7086D06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8229600" cy="3261360"/>
          </a:xfrm>
          <a:prstGeom xmlns:a="http://schemas.openxmlformats.org/drawingml/2006/main" prst="roundRect">
            <a:avLst>
              <a:gd name="adj" fmla="val 7009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6" name="card-dot">
            <a:extLst xmlns:a="http://schemas.openxmlformats.org/drawingml/2006/main">
              <a:ext uri="{FF2B5EF4-FFF2-40B4-BE49-F238E27FC236}">
                <a16:creationId xmlns:a16="http://schemas.microsoft.com/office/drawing/2014/main" id="{DEC61988-7BA5-4F59-BE1B-BEA6B620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C449253A-3C7A-4EFA-AD6E-4F81E816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735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Gestion de projet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15E1F-95CE-419F-B69C-E8E4D747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9B553-5FF2-4689-AAD4-F8B5614C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1945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Note de cadrage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FBA1A-BBFF-4B79-AF10-3FF8D197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B4A81-F00D-46E8-841D-13A1A665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Cahier des charges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76927-E910-49F1-A089-7F7A133A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148CF8-2E0F-47DC-8C5C-9DD03184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Planning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E36F5-87A0-48E5-9C7D-B0CF3291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217D2-7F46-494A-9638-2B3840B6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Registre des risques</a:t>
            </a:r>
          </a:p>
        </p:txBody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894BE796-FEC5-4DD7-85EF-C4AF1D2D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8229600" cy="3261360"/>
          </a:xfrm>
          <a:prstGeom xmlns:a="http://schemas.openxmlformats.org/drawingml/2006/main" prst="roundRect">
            <a:avLst>
              <a:gd name="adj" fmla="val 7009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17" name="card-dot">
            <a:extLst xmlns:a="http://schemas.openxmlformats.org/drawingml/2006/main">
              <a:ext uri="{FF2B5EF4-FFF2-40B4-BE49-F238E27FC236}">
                <a16:creationId xmlns:a16="http://schemas.microsoft.com/office/drawing/2014/main" id="{6A9F36F9-B255-4866-A3D3-F72B82CA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18" name="card-title">
            <a:extLst xmlns:a="http://schemas.openxmlformats.org/drawingml/2006/main">
              <a:ext uri="{FF2B5EF4-FFF2-40B4-BE49-F238E27FC236}">
                <a16:creationId xmlns:a16="http://schemas.microsoft.com/office/drawing/2014/main" id="{6993F7FD-A122-4FC7-A926-E8B47C21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43200"/>
            <a:ext cx="735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Conception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82153-FD27-49B2-9612-431FAF9F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EBECD-7D2E-4BB4-A088-E51698A4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1945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Architecture technique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53F024-7C67-471A-8198-1CDE0600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3D2D6E-B2FE-4DBA-A3E9-78641E69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0045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Modèle de données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2CA419-6E05-4CB1-87C6-72D092F2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7D838E-D066-44BF-89E3-4F92D08D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8145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Maquettes / interfaces</a:t>
            </a:r>
          </a:p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0B984B43-DFB4-4718-9D24-665736F6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5510"/>
            <a:ext cx="8229600" cy="3261360"/>
          </a:xfrm>
          <a:prstGeom xmlns:a="http://schemas.openxmlformats.org/drawingml/2006/main" prst="roundRect">
            <a:avLst>
              <a:gd name="adj" fmla="val 7009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26" name="card-dot">
            <a:extLst xmlns:a="http://schemas.openxmlformats.org/drawingml/2006/main">
              <a:ext uri="{FF2B5EF4-FFF2-40B4-BE49-F238E27FC236}">
                <a16:creationId xmlns:a16="http://schemas.microsoft.com/office/drawing/2014/main" id="{98745CAB-46BB-402B-B079-875DF669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324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27" name="card-title">
            <a:extLst xmlns:a="http://schemas.openxmlformats.org/drawingml/2006/main">
              <a:ext uri="{FF2B5EF4-FFF2-40B4-BE49-F238E27FC236}">
                <a16:creationId xmlns:a16="http://schemas.microsoft.com/office/drawing/2014/main" id="{DA2279D4-8C39-440B-8B61-6BC25031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29350"/>
            <a:ext cx="735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Réalisation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651DB1-F13E-4B09-9EA9-772E2A41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72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82F620-33D1-4AA8-ADB1-BFF71CA7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72465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Code Laravel/React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FCDB3-8A6D-4481-8E1F-2FCAFA11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08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5278C7-5D98-413F-A53F-E68EBE57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08660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Base MySQL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C760D0-BC2E-4E14-B2A4-B794116F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46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0A13BA-78CA-4C39-B637-AE6B228A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46760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Service IA FastAPI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971EEC-40A2-432D-887C-9A1901EC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84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441C1B-9174-491E-B06E-CBE22FF6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84860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Dashboard</a:t>
            </a:r>
          </a:p>
        </p:txBody>
      </p:sp>
      <p:sp>
        <p:nvSpPr>
          <p:cNvPr id="36" name="card">
            <a:extLst xmlns:a="http://schemas.openxmlformats.org/drawingml/2006/main">
              <a:ext uri="{FF2B5EF4-FFF2-40B4-BE49-F238E27FC236}">
                <a16:creationId xmlns:a16="http://schemas.microsoft.com/office/drawing/2014/main" id="{086D1BCB-7A7B-48F3-ACD9-1BBA94D3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985510"/>
            <a:ext cx="8229600" cy="3261360"/>
          </a:xfrm>
          <a:prstGeom xmlns:a="http://schemas.openxmlformats.org/drawingml/2006/main" prst="roundRect">
            <a:avLst>
              <a:gd name="adj" fmla="val 7009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4"/>
        </p:style>
      </p:sp>
      <p:sp>
        <p:nvSpPr>
          <p:cNvPr id="37" name="card-dot">
            <a:extLst xmlns:a="http://schemas.openxmlformats.org/drawingml/2006/main">
              <a:ext uri="{FF2B5EF4-FFF2-40B4-BE49-F238E27FC236}">
                <a16:creationId xmlns:a16="http://schemas.microsoft.com/office/drawing/2014/main" id="{B27B72D1-7BD9-4D40-B1C5-1936B345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324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38" name="card-title">
            <a:extLst xmlns:a="http://schemas.openxmlformats.org/drawingml/2006/main">
              <a:ext uri="{FF2B5EF4-FFF2-40B4-BE49-F238E27FC236}">
                <a16:creationId xmlns:a16="http://schemas.microsoft.com/office/drawing/2014/main" id="{10B15ACB-370F-43EB-856E-1D642EC7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229350"/>
            <a:ext cx="735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72A"/>
                </a:solidFill>
              </a:defRPr>
            </a:pPr>
            <a:r>
              <a:rPr sz="2175" b="1" i="0">
                <a:solidFill>
                  <a:srgbClr val="0F172A"/>
                </a:solidFill>
              </a:rPr>
              <a:t>Validation / Livraison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A96506-D2A1-48FB-A1EA-4A39A636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72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D4C38F-9583-4FE5-AE68-F376C3DA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72465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Tests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3AD3AF-767A-4C6B-98FD-62D8DDD6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708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9C18DB-A16F-4992-B7CA-FAA46E8F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08660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README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246718-EAF5-46A4-BF49-4CD3B526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746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15A5A2-F483-417B-9EF0-0EF676D7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46760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Présentation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5EF172-C8E5-45F6-98E1-180782E7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784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599A25-9CF6-40C1-A8F3-723E07E3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84860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34155"/>
                </a:solidFill>
              </a:defRPr>
            </a:pPr>
            <a:r>
              <a:rPr sz="1725" b="0" i="0">
                <a:solidFill>
                  <a:srgbClr val="334155"/>
                </a:solidFill>
              </a:rPr>
              <a:t>Démonstration</a:t>
            </a:r>
          </a:p>
        </p:txBody>
      </p:sp>
      <p:sp>
        <p:nvSpPr>
          <p:cNvPr id="4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7CC90D5-91FE-4E66-B7B8-81BE9705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4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E4832E1-A8F9-46E1-A2DD-EF34F841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19 / 22</a:t>
            </a:r>
          </a:p>
        </p:txBody>
      </p:sp>
    </p:spTree>
    <p:extLst>
      <p:ext uri="{BB962C8B-B14F-4D97-AF65-F5344CB8AC3E}">
        <p14:creationId xmlns:p14="http://schemas.microsoft.com/office/powerpoint/2010/main" val="35110032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E1B5263-9892-43FA-B5BB-91BAD38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21F0EB22-6BF1-4A2B-A9AE-7F98F77E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Démonstration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61A1DC-A3AD-42BF-98C7-F1CA528F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Un scénario simple pour prouver la solution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B06082-72CD-4D3C-8B70-B0853064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765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La démonstration montre le passage de la conception à une solution fonctionnelle.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80CB9-D142-403A-909B-D9B3ACF7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1230"/>
            <a:ext cx="3200400" cy="3408045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9ECE0-F8C2-456C-B1F3-19072E12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1. Accueil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E7ED3-F7DA-447E-9000-F81DDDD8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21230"/>
            <a:ext cx="3200400" cy="3408045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3D08D-B8BB-491A-AE79-B6C15969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955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2. Connexion 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A3A00-CAE3-457E-9A41-C1251876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21230"/>
            <a:ext cx="3200400" cy="3408045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AE01E-A846-4C24-B89B-440EF190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955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3.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8808A-3E59-42D0-8F4C-FCE5B3AF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221230"/>
            <a:ext cx="3200400" cy="3408045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4CD47-3845-4052-A852-79AFBC82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4955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4. Ajouter membre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E58E9-A311-478D-8CE8-21C96688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2221230"/>
            <a:ext cx="3200400" cy="3408045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3AD87-A53F-4E3C-AB97-2C453F7B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4955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5. Ajouter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81D05-ABA7-481F-BB21-C7061EF2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38825"/>
            <a:ext cx="3200400" cy="3408045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F6E88-ECFF-4C5F-BC4F-C5C58DE1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150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6. Ajouter équipement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9CCE7-5089-4DE7-AF45-6E7B1E62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38825"/>
            <a:ext cx="3200400" cy="3408045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5D7678-F6C7-402F-A45A-F58525DB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150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7. Ajouter publication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0A7A0-5F7E-48C3-8E9C-84390CBF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38825"/>
            <a:ext cx="3200400" cy="3408045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E5AD7-2F09-45F5-8705-E0A07737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1150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8. Mots-clés 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BC1309-2F4A-4E16-B85E-38194F29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838825"/>
            <a:ext cx="3200400" cy="3408045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3D04F-043F-4F2E-860D-E75795AB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150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9. Recommandations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22DD5-B78A-4B58-AA96-939B6B78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838825"/>
            <a:ext cx="3200400" cy="3408045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66854-2F6A-451C-A6CF-FE19FF77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61150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10. Déconnexion</a:t>
            </a:r>
          </a:p>
        </p:txBody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36550E-5769-4F99-94E9-40A2421F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2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398F4F6-C4FA-4EC8-A86F-57AFB22E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20 / 22</a:t>
            </a:r>
          </a:p>
        </p:txBody>
      </p:sp>
    </p:spTree>
    <p:extLst>
      <p:ext uri="{BB962C8B-B14F-4D97-AF65-F5344CB8AC3E}">
        <p14:creationId xmlns:p14="http://schemas.microsoft.com/office/powerpoint/2010/main" val="186079832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ACC1106-3A93-4EBB-8AB2-4C8B0E90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75F138D4-26A0-4EED-80B6-3EB951AD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Résultats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DFC780-CD6F-46C4-BCD8-912DFF8E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Un MVP fonctionnel et présentable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F0DC65-8B55-4077-8427-B3D377EB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8629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Les résultats couvrent la solution technique, la gestion du projet et les livrables académiques.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F29D5-1EA3-4085-A87C-5B6A9FDF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5410200" cy="3261360"/>
          </a:xfrm>
          <a:prstGeom xmlns:a="http://schemas.openxmlformats.org/drawingml/2006/main" prst="roundRect">
            <a:avLst>
              <a:gd name="adj" fmla="val 81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49AD0-79B4-4B6A-8D01-B90BD207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4838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2563EB"/>
                </a:solidFill>
              </a:defRPr>
            </a:pPr>
            <a:r>
              <a:rPr sz="3900" b="1" i="0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6C4DB-21EC-4EBA-BBE5-97ADF7C4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4838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CRUD principaux réalisés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79C93-DA2E-48CC-B162-67F19884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95550"/>
            <a:ext cx="5410200" cy="3261360"/>
          </a:xfrm>
          <a:prstGeom xmlns:a="http://schemas.openxmlformats.org/drawingml/2006/main" prst="roundRect">
            <a:avLst>
              <a:gd name="adj" fmla="val 81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1F3D5-E053-4DFE-A7AF-25CB2A78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4838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059669"/>
                </a:solidFill>
              </a:defRPr>
            </a:pPr>
            <a:r>
              <a:rPr sz="3900" b="1" i="0">
                <a:solidFill>
                  <a:srgbClr val="059669"/>
                </a:solidFill>
              </a:rPr>
              <a:t>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EFCD2-78E7-454C-8BAC-0B280360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4838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tests Laravel passés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6128E-8CE6-4E95-914E-7213F4B7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495550"/>
            <a:ext cx="5410200" cy="3261360"/>
          </a:xfrm>
          <a:prstGeom xmlns:a="http://schemas.openxmlformats.org/drawingml/2006/main" prst="roundRect">
            <a:avLst>
              <a:gd name="adj" fmla="val 81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8F4ED-E4ED-4521-99AD-0194E73D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781300"/>
            <a:ext cx="4838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7C3AED"/>
                </a:solidFill>
              </a:defRPr>
            </a:pPr>
            <a:r>
              <a:rPr sz="3900" b="1" i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FCDC7-596C-451A-A5BB-C14B8B8F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429000"/>
            <a:ext cx="4838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service IA FastAPI intégré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AB235-5640-4ACD-ACC5-F94CC71C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5510"/>
            <a:ext cx="5410200" cy="3261360"/>
          </a:xfrm>
          <a:prstGeom xmlns:a="http://schemas.openxmlformats.org/drawingml/2006/main" prst="roundRect">
            <a:avLst>
              <a:gd name="adj" fmla="val 81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01547-B9EF-4FBB-9042-F17598D5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267450"/>
            <a:ext cx="4838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D97706"/>
                </a:solidFill>
              </a:defRPr>
            </a:pPr>
            <a:r>
              <a:rPr sz="3900" b="1" i="0">
                <a:solidFill>
                  <a:srgbClr val="D97706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AEB77-0143-497A-B45E-A4B94FDB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915150"/>
            <a:ext cx="4838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rôles utilisateurs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C15AF-DC14-4ABC-80E5-74D625FE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85510"/>
            <a:ext cx="5410200" cy="3261360"/>
          </a:xfrm>
          <a:prstGeom xmlns:a="http://schemas.openxmlformats.org/drawingml/2006/main" prst="roundRect">
            <a:avLst>
              <a:gd name="adj" fmla="val 81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56218-4890-4F77-97E0-23E00A27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267450"/>
            <a:ext cx="4838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E40AF"/>
                </a:solidFill>
              </a:defRPr>
            </a:pPr>
            <a:r>
              <a:rPr sz="3900" b="1" i="0">
                <a:solidFill>
                  <a:srgbClr val="1E40A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22AD1-C0BF-462C-BB17-594CCAA4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915150"/>
            <a:ext cx="4838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documents projet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E8239-2F55-4AB3-9EF4-22418D4E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985510"/>
            <a:ext cx="5410200" cy="3261360"/>
          </a:xfrm>
          <a:prstGeom xmlns:a="http://schemas.openxmlformats.org/drawingml/2006/main" prst="roundRect">
            <a:avLst>
              <a:gd name="adj" fmla="val 81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46D7A5-849E-468A-A891-5460151C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267450"/>
            <a:ext cx="4838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DC2626"/>
                </a:solidFill>
              </a:defRPr>
            </a:pPr>
            <a:r>
              <a:rPr sz="3900" b="1" i="0">
                <a:solidFill>
                  <a:srgbClr val="DC2626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B0182-CC01-46E2-84B7-07505593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915150"/>
            <a:ext cx="4838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dashboard statistique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FB45B21-DCC2-460A-9C59-8C1B39D7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3D88695-9CFC-477F-BFAF-215E78DA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21 / 22</a:t>
            </a:r>
          </a:p>
        </p:txBody>
      </p:sp>
    </p:spTree>
    <p:extLst>
      <p:ext uri="{BB962C8B-B14F-4D97-AF65-F5344CB8AC3E}">
        <p14:creationId xmlns:p14="http://schemas.microsoft.com/office/powerpoint/2010/main" val="191282382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DBC4213-D769-488A-BDAF-F9A34F22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6FDA639A-50FF-4604-953B-60D0364C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Conclusion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617DC3-59E5-4D96-B391-37AAE56A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72A"/>
                </a:solidFill>
              </a:defRPr>
            </a:pPr>
            <a:r>
              <a:rPr sz="4050" b="1" i="0">
                <a:solidFill>
                  <a:srgbClr val="0F172A"/>
                </a:solidFill>
              </a:rPr>
              <a:t>Développer une solution, mais surtout piloter un projet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5D55C8-C22F-4525-92E6-3771AF0A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10648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4748B"/>
                </a:solidFill>
              </a:defRPr>
            </a:pPr>
            <a:r>
              <a:rPr sz="1800" b="0" i="0">
                <a:solidFill>
                  <a:srgbClr val="64748B"/>
                </a:solidFill>
              </a:rPr>
              <a:t>Le projet combine développement web, base de données, intelligence artificielle et gestion de projet informatique.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1213F-2659-42FC-A19C-E688C062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66878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F172A"/>
                </a:solidFill>
              </a:defRPr>
            </a:pPr>
            <a:r>
              <a:rPr sz="3600" b="1" i="0">
                <a:solidFill>
                  <a:srgbClr val="0F172A"/>
                </a:solidFill>
              </a:rPr>
              <a:t>« Nous avons appliqué une démarche structurée allant du cadrage jusqu’à la validation, en tenant compte des contraintes QCD, des risques, du planning, des rôles et des livrables. 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98FCD-5228-4574-8F83-FA45C33C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39865"/>
            <a:ext cx="1428750" cy="358140"/>
          </a:xfrm>
          <a:prstGeom xmlns:a="http://schemas.openxmlformats.org/drawingml/2006/main" prst="roundRect">
            <a:avLst>
              <a:gd name="adj" fmla="val 47872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D8D99-CC8E-4DF3-9C68-C1A18253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103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E40AF"/>
                </a:solidFill>
              </a:defRPr>
            </a:pPr>
            <a:r>
              <a:rPr sz="1350" b="1" i="0">
                <a:solidFill>
                  <a:srgbClr val="1E40AF"/>
                </a:solidFill>
              </a:rPr>
              <a:t>Cadrage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0DA2D-061E-49B5-BECB-185D1FC5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539865"/>
            <a:ext cx="1066800" cy="358140"/>
          </a:xfrm>
          <a:prstGeom xmlns:a="http://schemas.openxmlformats.org/drawingml/2006/main" prst="roundRect">
            <a:avLst>
              <a:gd name="adj" fmla="val 47872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6F974-00D6-4DC6-B203-B558EC08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610350"/>
            <a:ext cx="723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QCD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AEA12-D128-46DD-A665-B215F152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539865"/>
            <a:ext cx="1428750" cy="358140"/>
          </a:xfrm>
          <a:prstGeom xmlns:a="http://schemas.openxmlformats.org/drawingml/2006/main" prst="roundRect">
            <a:avLst>
              <a:gd name="adj" fmla="val 47872"/>
            </a:avLst>
          </a:prstGeom>
          <a:solidFill xmlns:a="http://schemas.openxmlformats.org/drawingml/2006/main">
            <a:srgbClr val="D1FAE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481C5-DE19-45AE-B683-D197708E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6103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59669"/>
                </a:solidFill>
              </a:defRPr>
            </a:pPr>
            <a:r>
              <a:rPr sz="1350" b="1" i="0">
                <a:solidFill>
                  <a:srgbClr val="059669"/>
                </a:solidFill>
              </a:rPr>
              <a:t>Roadmap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7F8B1-E7BD-481F-9691-7B356B36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539865"/>
            <a:ext cx="1428750" cy="358140"/>
          </a:xfrm>
          <a:prstGeom xmlns:a="http://schemas.openxmlformats.org/drawingml/2006/main" prst="roundRect">
            <a:avLst>
              <a:gd name="adj" fmla="val 47872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AD027-603A-46CD-8F62-8DEFE53A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6103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97706"/>
                </a:solidFill>
              </a:defRPr>
            </a:pPr>
            <a:r>
              <a:rPr sz="1350" b="1" i="0">
                <a:solidFill>
                  <a:srgbClr val="D97706"/>
                </a:solidFill>
              </a:rPr>
              <a:t>Risques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3762A-F2EA-4F65-98DB-39C67C56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539865"/>
            <a:ext cx="1123950" cy="358140"/>
          </a:xfrm>
          <a:prstGeom xmlns:a="http://schemas.openxmlformats.org/drawingml/2006/main" prst="roundRect">
            <a:avLst>
              <a:gd name="adj" fmla="val 47872"/>
            </a:avLst>
          </a:prstGeom>
          <a:solidFill xmlns:a="http://schemas.openxmlformats.org/drawingml/2006/main">
            <a:srgbClr val="FEE2E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1147D-5925-4B6A-BD66-CA1E9CA1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610350"/>
            <a:ext cx="781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C2626"/>
                </a:solidFill>
              </a:defRPr>
            </a:pPr>
            <a:r>
              <a:rPr sz="1350" b="1" i="0">
                <a:solidFill>
                  <a:srgbClr val="DC2626"/>
                </a:solidFill>
              </a:rPr>
              <a:t>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5DB3C-07CF-4016-A687-75F423C4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539865"/>
            <a:ext cx="1733550" cy="358140"/>
          </a:xfrm>
          <a:prstGeom xmlns:a="http://schemas.openxmlformats.org/drawingml/2006/main" prst="roundRect">
            <a:avLst>
              <a:gd name="adj" fmla="val 47872"/>
            </a:avLst>
          </a:prstGeom>
          <a:solidFill xmlns:a="http://schemas.openxmlformats.org/drawingml/2006/main">
            <a:srgbClr val="DBEAFE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510EB-C7FA-4609-A71B-1DC80936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61035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E40AF"/>
                </a:solidFill>
              </a:defRPr>
            </a:pPr>
            <a:r>
              <a:rPr sz="1350" b="1" i="0">
                <a:solidFill>
                  <a:srgbClr val="1E40AF"/>
                </a:solidFill>
              </a:rPr>
              <a:t>Livraison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A395D0A-C88C-460B-93C7-9F085CBB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83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Gestion de projets informatiques • Plateforme laboratoire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5C6421E-3D10-4CD2-93C6-58D930CE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22 / 22</a:t>
            </a:r>
          </a:p>
        </p:txBody>
      </p:sp>
    </p:spTree>
    <p:extLst>
      <p:ext uri="{BB962C8B-B14F-4D97-AF65-F5344CB8AC3E}">
        <p14:creationId xmlns:p14="http://schemas.microsoft.com/office/powerpoint/2010/main" val="1108113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2026-05-16T21:10:20.7590000Z</dcterms:created>
  <dcterms:modified xsi:type="dcterms:W3CDTF">2026-05-16T21:10:20.7590000Z</dcterms:modified>
</coreProperties>
</file>